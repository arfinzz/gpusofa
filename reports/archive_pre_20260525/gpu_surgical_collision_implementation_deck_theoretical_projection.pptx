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9046dfc9fe4e79" /><Relationship Type="http://schemas.openxmlformats.org/officeDocument/2006/relationships/extended-properties" Target="/docProps/app.xml" Id="R1c70d2573ad24f3e" /><Relationship Type="http://schemas.openxmlformats.org/officeDocument/2006/relationships/officeDocument" Target="/ppt/presentation.xml" Id="R0e8b2f971e8a48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da2c08e28d41c7"/>
  </p:sldMasterIdLst>
  <p:notesMasterIdLst>
    <p:notesMasterId xmlns:r="http://schemas.openxmlformats.org/officeDocument/2006/relationships" r:id="R5ba4df789c374b24"/>
  </p:notesMasterIdLst>
  <p:sldIdLst>
    <p:sldId xmlns:r="http://schemas.openxmlformats.org/officeDocument/2006/relationships" id="256" r:id="R48fab70b027e4432"/>
    <p:sldId xmlns:r="http://schemas.openxmlformats.org/officeDocument/2006/relationships" id="257" r:id="R2a5fb66509374d93"/>
    <p:sldId xmlns:r="http://schemas.openxmlformats.org/officeDocument/2006/relationships" id="258" r:id="R27f35bb6fb5a4664"/>
    <p:sldId xmlns:r="http://schemas.openxmlformats.org/officeDocument/2006/relationships" id="259" r:id="Rb9c3446653c74e2d"/>
    <p:sldId xmlns:r="http://schemas.openxmlformats.org/officeDocument/2006/relationships" id="260" r:id="R5f817b213eb14464"/>
    <p:sldId xmlns:r="http://schemas.openxmlformats.org/officeDocument/2006/relationships" id="261" r:id="Rb2e06c9c90474209"/>
    <p:sldId xmlns:r="http://schemas.openxmlformats.org/officeDocument/2006/relationships" id="262" r:id="R8d8305baa5624361"/>
    <p:sldId xmlns:r="http://schemas.openxmlformats.org/officeDocument/2006/relationships" id="263" r:id="Re73883368f1a4c0e"/>
    <p:sldId xmlns:r="http://schemas.openxmlformats.org/officeDocument/2006/relationships" id="264" r:id="Ra1953b74aca5474e"/>
    <p:sldId xmlns:r="http://schemas.openxmlformats.org/officeDocument/2006/relationships" id="265" r:id="R0bc4c565866549e2"/>
    <p:sldId xmlns:r="http://schemas.openxmlformats.org/officeDocument/2006/relationships" id="266" r:id="R38c459500a884ee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a2c08e28d41c7" /><Relationship Type="http://schemas.openxmlformats.org/officeDocument/2006/relationships/theme" Target="/ppt/theme/theme1.xml" Id="Rd86257075c0742cb" /><Relationship Type="http://schemas.openxmlformats.org/officeDocument/2006/relationships/notesMaster" Target="/ppt/notesMasters/notesMaster1.xml" Id="R5ba4df789c374b24" /><Relationship Type="http://schemas.openxmlformats.org/officeDocument/2006/relationships/presProps" Target="/ppt/presProps.xml" Id="R8f4615864dc4405a" /><Relationship Type="http://schemas.openxmlformats.org/officeDocument/2006/relationships/viewProps" Target="/ppt/viewProps.xml" Id="Re32c3e0c4a154906" /><Relationship Type="http://schemas.openxmlformats.org/officeDocument/2006/relationships/tableStyles" Target="/ppt/tableStyles.xml" Id="R43502cd2e05641dc" /><Relationship Type="http://schemas.openxmlformats.org/officeDocument/2006/relationships/slide" Target="/ppt/slides/slide1.xml" Id="R48fab70b027e4432" /><Relationship Type="http://schemas.openxmlformats.org/officeDocument/2006/relationships/slide" Target="/ppt/slides/slide2.xml" Id="R2a5fb66509374d93" /><Relationship Type="http://schemas.openxmlformats.org/officeDocument/2006/relationships/slide" Target="/ppt/slides/slide3.xml" Id="R27f35bb6fb5a4664" /><Relationship Type="http://schemas.openxmlformats.org/officeDocument/2006/relationships/slide" Target="/ppt/slides/slide4.xml" Id="Rb9c3446653c74e2d" /><Relationship Type="http://schemas.openxmlformats.org/officeDocument/2006/relationships/slide" Target="/ppt/slides/slide5.xml" Id="R5f817b213eb14464" /><Relationship Type="http://schemas.openxmlformats.org/officeDocument/2006/relationships/slide" Target="/ppt/slides/slide6.xml" Id="Rb2e06c9c90474209" /><Relationship Type="http://schemas.openxmlformats.org/officeDocument/2006/relationships/slide" Target="/ppt/slides/slide7.xml" Id="R8d8305baa5624361" /><Relationship Type="http://schemas.openxmlformats.org/officeDocument/2006/relationships/slide" Target="/ppt/slides/slide8.xml" Id="Re73883368f1a4c0e" /><Relationship Type="http://schemas.openxmlformats.org/officeDocument/2006/relationships/slide" Target="/ppt/slides/slide9.xml" Id="Ra1953b74aca5474e" /><Relationship Type="http://schemas.openxmlformats.org/officeDocument/2006/relationships/slide" Target="/ppt/slides/slide10.xml" Id="R0bc4c565866549e2" /><Relationship Type="http://schemas.openxmlformats.org/officeDocument/2006/relationships/slide" Target="/ppt/slides/slide11.xml" Id="R38c459500a884e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8ae41a70258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e801c43d0f4544" /><Relationship Type="http://schemas.openxmlformats.org/officeDocument/2006/relationships/notesMaster" Target="/ppt/notesMasters/notesMaster1.xml" Id="R613c1fd9dd4e4e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fcb52034de4f64" /><Relationship Type="http://schemas.openxmlformats.org/officeDocument/2006/relationships/notesMaster" Target="/ppt/notesMasters/notesMaster1.xml" Id="R83377136ebab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c03890b40444d9" /><Relationship Type="http://schemas.openxmlformats.org/officeDocument/2006/relationships/notesMaster" Target="/ppt/notesMasters/notesMaster1.xml" Id="R63050038c50344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831b9e6eab4632" /><Relationship Type="http://schemas.openxmlformats.org/officeDocument/2006/relationships/notesMaster" Target="/ppt/notesMasters/notesMaster1.xml" Id="R21f13209ca4c40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82f5597f1b469c" /><Relationship Type="http://schemas.openxmlformats.org/officeDocument/2006/relationships/notesMaster" Target="/ppt/notesMasters/notesMaster1.xml" Id="R9367b9ed279343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957512d24a487e" /><Relationship Type="http://schemas.openxmlformats.org/officeDocument/2006/relationships/notesMaster" Target="/ppt/notesMasters/notesMaster1.xml" Id="R1335459b997d4d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ec54a591fa480a" /><Relationship Type="http://schemas.openxmlformats.org/officeDocument/2006/relationships/notesMaster" Target="/ppt/notesMasters/notesMaster1.xml" Id="Ra730c36a2594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dbfd95053a48c2" /><Relationship Type="http://schemas.openxmlformats.org/officeDocument/2006/relationships/notesMaster" Target="/ppt/notesMasters/notesMaster1.xml" Id="R55c654926dea4c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b68ff68e104f70" /><Relationship Type="http://schemas.openxmlformats.org/officeDocument/2006/relationships/notesMaster" Target="/ppt/notesMasters/notesMaster1.xml" Id="R1fb019ef4a1842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0640f67cd04edb" /><Relationship Type="http://schemas.openxmlformats.org/officeDocument/2006/relationships/notesMaster" Target="/ppt/notesMasters/notesMaster1.xml" Id="R9422d6063c7847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484e63e16b47e8" /><Relationship Type="http://schemas.openxmlformats.org/officeDocument/2006/relationships/notesMaster" Target="/ppt/notesMasters/notesMaster1.xml" Id="Rdf7d1490bc5946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e55f0090c45c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fcacdc82b649fc" /><Relationship Type="http://schemas.openxmlformats.org/officeDocument/2006/relationships/slideLayout" Target="/ppt/slideLayouts/slideLayout2.xml" Id="Rbc671549c5c84d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671549c5c84d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9e1a47673f4689" /><Relationship Type="http://schemas.openxmlformats.org/officeDocument/2006/relationships/notesSlide" Target="/ppt/notesSlides/notesSlide1.xml" Id="Reb74bf1c6d274a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2542d08d0d43e9" /><Relationship Type="http://schemas.openxmlformats.org/officeDocument/2006/relationships/notesSlide" Target="/ppt/notesSlides/notesSlide2.xml" Id="R63090f26abc3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c7d781446e4ad6" /><Relationship Type="http://schemas.openxmlformats.org/officeDocument/2006/relationships/notesSlide" Target="/ppt/notesSlides/notesSlide3.xml" Id="R2a9f36a04b9142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da7e58e604ba9" /><Relationship Type="http://schemas.openxmlformats.org/officeDocument/2006/relationships/notesSlide" Target="/ppt/notesSlides/notesSlide4.xml" Id="R6e8da71fb6f3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b5816c65734819" /><Relationship Type="http://schemas.openxmlformats.org/officeDocument/2006/relationships/notesSlide" Target="/ppt/notesSlides/notesSlide5.xml" Id="Rf8cdd4c8f08d42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7a6bf690e4a62" /><Relationship Type="http://schemas.openxmlformats.org/officeDocument/2006/relationships/notesSlide" Target="/ppt/notesSlides/notesSlide6.xml" Id="R2a31154bf705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eed329d1274a0b" /><Relationship Type="http://schemas.openxmlformats.org/officeDocument/2006/relationships/notesSlide" Target="/ppt/notesSlides/notesSlide7.xml" Id="R6b66e483981849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41beab27448a7" /><Relationship Type="http://schemas.openxmlformats.org/officeDocument/2006/relationships/notesSlide" Target="/ppt/notesSlides/notesSlide8.xml" Id="R0f2a6097b51f45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34881a6ffb46e9" /><Relationship Type="http://schemas.openxmlformats.org/officeDocument/2006/relationships/notesSlide" Target="/ppt/notesSlides/notesSlide9.xml" Id="R7e63475dba784c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71f2019014c20" /><Relationship Type="http://schemas.openxmlformats.org/officeDocument/2006/relationships/notesSlide" Target="/ppt/notesSlides/notesSlide10.xml" Id="Rc43c1a7d7fd549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a2dc003634e67" /><Relationship Type="http://schemas.openxmlformats.org/officeDocument/2006/relationships/notesSlide" Target="/ppt/notesSlides/notesSlide11.xml" Id="R51e348fe951e46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86EE016D-519D-41F4-BDEE-F721170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1E55C-F146-421B-A1FD-5DF0D54A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5993"/>
            <a:ext cx="25717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396FB-FFA3-41F3-BF18-94AECDCB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22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implementation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B5DD5-A904-4717-8A8A-DCDAF00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03251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111827"/>
                </a:solidFill>
              </a:defRPr>
            </a:pPr>
            <a:r>
              <a:rPr sz="5850" b="1" i="0">
                <a:solidFill>
                  <a:srgbClr val="111827"/>
                </a:solidFill>
              </a:rPr>
              <a:t>Dense-grid GPU narrow phase for surgical collision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587E1-9C0B-47ED-87E6-986A8A37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115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4B5563"/>
                </a:solidFill>
              </a:defRPr>
            </a:pPr>
            <a:r>
              <a:rPr sz="2400" b="0" i="0">
                <a:solidFill>
                  <a:srgbClr val="4B5563"/>
                </a:solidFill>
              </a:rPr>
              <a:t>The current plugin removes object-AABB broad-phase latency, generates primitive tissue/blade pairs on the GPU, deduplicates them, and runs exact triangle contact tests device-side.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32C40-2243-4107-8697-8E8D5123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DD4BF"/>
                </a:solidFill>
              </a:defRPr>
            </a:pPr>
            <a:r>
              <a:rPr sz="4350" b="1" i="0">
                <a:solidFill>
                  <a:srgbClr val="2DD4BF"/>
                </a:solidFill>
              </a:rPr>
              <a:t>234k tris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CE922-07A7-40D2-8D8C-423D8566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largest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EB84A-77DB-4CCD-A1E0-768FB659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9F946-C0EB-4D22-A881-ABBBF4D8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BBF24"/>
                </a:solidFill>
              </a:defRPr>
            </a:pPr>
            <a:r>
              <a:rPr sz="4350" b="1" i="0">
                <a:solidFill>
                  <a:srgbClr val="FBBF24"/>
                </a:solidFill>
              </a:rPr>
              <a:t>2.12M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24707-E9CA-4C4A-BE35-AB2D3483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unique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17523-1C8B-44EB-BC09-14C6B58F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79F04-227A-408F-9811-33AFD4CA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38BDF8"/>
                </a:solidFill>
              </a:defRPr>
            </a:pPr>
            <a:r>
              <a:rPr sz="4350" b="1" i="0">
                <a:solidFill>
                  <a:srgbClr val="38BDF8"/>
                </a:solidFill>
              </a:rPr>
              <a:t>2x+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0F2E7-1FAA-4EEF-9615-177C44A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theoretical 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EC915-2191-4335-97F8-8DF64BD3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D0A16-9D3B-4DB1-8E0E-D3F9E467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88" y="685800"/>
            <a:ext cx="6043613" cy="84963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696D2-40EB-4868-A7CA-C4DF0F0B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69545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Current execution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E191A-DB3F-4693-B3DB-4EE3ACCF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234696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6FA85-451F-4FDF-824A-C6C13EA5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5336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SOFA 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56D1C-1443-42F0-9D38-D9AA64CE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9146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tissue + blade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539A8-10B8-4924-ABD9-A514E899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0045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EA056-6229-43EC-969C-98B4B15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34721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5929F-E98B-4D01-91A6-347B1AB7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53390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 grid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A691F-248B-4557-BFF8-D66D721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9149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one cell space, two id lists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B4310-DA1D-4700-91E7-69FDA27D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60070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E4F8B-6656-4416-A29C-86C5EFB2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634746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D6E4B-EBBF-426A-BE78-7632E48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5341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5FC92-B0B8-4055-95EC-5C841354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9151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per unique pair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50DA1-FDF6-483E-AAD8-FC33B272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600950"/>
            <a:ext cx="5391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B5563"/>
                </a:solidFill>
              </a:defRPr>
            </a:pPr>
            <a:r>
              <a:rPr sz="1875" b="0" i="0">
                <a:solidFill>
                  <a:srgbClr val="4B5563"/>
                </a:solidFill>
              </a:rPr>
              <a:t>Detection-only output keeps contacts on device; CPU sees counters and timings.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C3E48-9B43-4FA7-A5B4-1391DB5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72600"/>
            <a:ext cx="1007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280"/>
                </a:solidFill>
              </a:defRPr>
            </a:pPr>
            <a:r>
              <a:rPr sz="1500" b="0" i="0">
                <a:solidFill>
                  <a:srgbClr val="6B7280"/>
                </a:solidFill>
              </a:rPr>
              <a:t>SofaGpuCollision | WSL/CUDA surgical simulation path</a:t>
            </a:r>
          </a:p>
        </p:txBody>
      </p:sp>
    </p:spTree>
    <p:extLst>
      <p:ext uri="{BB962C8B-B14F-4D97-AF65-F5344CB8AC3E}">
        <p14:creationId xmlns:p14="http://schemas.microsoft.com/office/powerpoint/2010/main" val="846758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932A73C-F5FC-482B-989B-65447FA7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056E8-8D4B-4770-AC1B-86BA7DB8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0366B-E193-409C-9577-54B811D9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36AD0-EC71-4DAE-9BCB-126D40A2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Default SOFA frame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D4988-F8D2-4EB9-ACD8-B859FD4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982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SOFA normally advances a simulation by traversing the scene graph, solving mechanics, detecting contacts, then applying collision response before the next visual update.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BFAFF-2FD3-4BAD-85C5-3072E861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1752F-0917-4814-B29C-BCE7BCC1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1. Scene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4E1F8-3543-42B5-9511-D19B57C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MechanicalObject positions, velocities, topology, mappings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62083-B453-48D0-8C25-0420C977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1DF0E-7D91-4C80-A01E-C1F5A824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6BEC5-E4FB-4F03-A8E4-3055117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2. Forces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1F4D7-AD0D-443D-B2EE-8C23F09B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mass, damping, FEM force fields,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0F8FE-0E69-46C6-8BDA-745E06C2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1465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75485-D89C-4F51-BEC8-66AAB29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CAD81-6B85-466B-B435-84559BE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813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3. Integrate + 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9C6B0-4F34-4D81-BE2C-E0802D5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6230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ODE solver assembles/apply system; linear solver updates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26584-EA9A-44EC-8877-D3E92F28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A4D7F-D04A-4676-A07F-3ABDEF95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4. Collision 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3941A-8C06-467D-A10C-C5E35DD1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broad phase -&gt; narrow phase -&gt; contact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5CBAE-2405-4567-9635-2421575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EFA0F-235A-4E8A-8B08-69CE7F67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EC3A0-6EB4-4BF7-9D63-1D69CA5B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5. Collision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51D14-EF9F-4335-808B-2A0A0BF5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contact manager builds response constraints or penalty forces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A8A3C-0C68-4292-98D4-191D732A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149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0A8FE-CEB2-4ADF-ADBC-5A1E526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DC6A3-81D2-4F14-9437-5113FA0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7815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6. Update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248A6-80B4-458D-8592-7850EBD5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6255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mapped collision/render geometry, logging, visualization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F3205-1EFE-4F6B-9B95-57B2F3E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94B20-6E3A-4F9B-B781-FFF6EF2B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Data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4DB3E-4FBB-4856-BB66-0C90088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The default component path is CPU-friendly: scene graph objects own data, algorithms read/write through SOFA containers, and mappings synchronize derived geometry.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35087-1791-4834-92D9-A3530F0E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84074-890D-4068-A380-CDC11460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Collision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83090-9C2A-4BEB-8963-6B8C2BA6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Broad phase decides which models may interact; narrow phase tests primitives and emits contacts; response consumes those contacts.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C50AD5-5E49-4BEE-B1D0-7B32F5D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F4502-8FD7-4683-A6B4-02A7B44D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Response is last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AA5B7D-AE47-472C-AB38-7A677C99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That matches your architecture: keep detection, metadata, and solve on GPU first; move final collision response after the device pipeline is stable.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AD7DEC-DB68-43FC-BA5A-BB389174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20288239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C088F95-395D-426A-807D-5A035B05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49BEE-E491-48B7-9E43-410D99B9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767EF-490D-4DCC-A2FE-7ADC26C1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C54B0-FDC2-438E-ABB5-DC66AC0E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the default CPU path limits surgical GPU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AB4AC-9233-4C97-9B85-AD46CF14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516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issue is not only raw CPU speed. The larger limitation is ownership: if the CPU owns state, every GPU stage becomes a temporary accelerator instead of the main simulation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CD0C4-F77A-4C0E-982F-0D7CA2D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7CA1D-EDA1-40F5-8A5E-A417F5F1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CPU-owned default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CB311-1D0F-4FAE-BE1E-8FB79E9A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FCE51-D9FD-4658-ACEE-8EB15EF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Scene graph traversal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5C9A6-863F-43AF-B9F1-CB8D8DC5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component calls and Data access happen frame-by-frame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72AA0-2C1D-479A-ADCA-AD21155B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F839A-71BC-42EE-97C5-94495074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Mechanical solve on 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7D114-FF30-4073-9E9F-AF9B5721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force assembly, constraints, and sparse/direct solves can dominate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72BA-BBD8-4BB3-AAB8-44E002E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B0986-A0DE-4ECF-B361-EFE1BD6E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Collision on 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B70F3-F425-41E4-92D0-DF1A822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912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broad/narrow/contact generation stay host-side in standard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A9F2D-EB01-42A1-B8E3-358BA079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389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2CD3C-A2F1-4B7B-8DD7-407F40F2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866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Two-object surgery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58536-D9B1-4BD7-9DAB-9905F05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object AABB broad phase adds little when tissue and blade always interact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347D0-8FEA-4AD1-ACE8-141C1F3E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171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38BDF8"/>
                </a:solidFill>
              </a:defRPr>
            </a:pPr>
            <a:r>
              <a:rPr sz="420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79C51-1988-43D8-A6F1-29429EA3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4B5563"/>
                </a:solidFill>
              </a:defRPr>
            </a:pPr>
            <a:r>
              <a:rPr sz="2100" b="1" i="0">
                <a:solidFill>
                  <a:srgbClr val="4B5563"/>
                </a:solidFill>
              </a:rPr>
              <a:t>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3A373-E3E0-4711-806D-1C1D1B97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4B5563"/>
                </a:solidFill>
              </a:defRPr>
            </a:pPr>
            <a:r>
              <a:rPr sz="2100" b="1" i="0">
                <a:solidFill>
                  <a:srgbClr val="4B5563"/>
                </a:solidFill>
              </a:rPr>
              <a:t>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0AED5-FE3B-42F6-A406-B75C3EE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to GPU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D44EB-3D99-4689-B4AE-BA079852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FE87D-15E8-41F7-BB31-A597D1AC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GPU-resident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C78F3-8E60-4C3C-9C76-D7B2A6C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89935-018A-43B4-9350-EE6AB766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004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Tissue + tool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5119F-0564-48B3-ACD1-6CD1A336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004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positions, velocities, FEM element data, constraints in VRAM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3E83C-F96B-4576-8A9F-6047A1F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481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C4FBB-CF6A-4317-B743-DB6E73F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95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Dense-grid primitive filtering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F46DB-9FDC-4186-A42D-D1FE0D91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958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skip redundant object AABB culling; generate tissue/blade pairs on 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8722D9-B5E9-46AB-B0E4-B3794D5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435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3D123-72EF-4F94-8038-C146127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912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contacts +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4D05A8-DF96-4880-B5E8-73314CF3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1912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deduplicated candidate pairs feed device contact buffers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5C31AA-61E7-4BE0-804C-554098A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389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B17402-69A3-452C-B281-0D45D7E0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866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 solve then response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FF0BE6-F322-449B-ACCD-8F0449C0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4866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linear solve and response consume contacts without CPU round-trip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EBE825-ADB3-4EA5-807C-F5F1184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06740"/>
            <a:ext cx="16840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44709B-6FA3-4A0B-8A86-C802A15D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106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Design rule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36DB57-AF24-41A1-BB18-FCA3DD61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8458200"/>
            <a:ext cx="13868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4B5563"/>
                </a:solidFill>
              </a:defRPr>
            </a:pPr>
            <a:r>
              <a:rPr sz="2250" b="0" i="0">
                <a:solidFill>
                  <a:srgbClr val="4B5563"/>
                </a:solidFill>
              </a:rPr>
              <a:t>A fast CUDA kernel is not enough. The win comes when geometry, candidates, contacts, solver vectors, and response data stop leaving VRAM each step.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F2192-7D01-461B-8B47-45B0B1DB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3121995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8431633-2EF4-475C-BAA8-67EF319F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4FD97-B443-42F5-9EA5-7833D0F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F87C7-79D6-4B65-921F-63A30202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3DBEA-A2D7-4BDD-9E95-0BEF9420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Total execution flow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BF095-278C-4C14-9748-03CB87F6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43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Broad phase is no longer doing object AABB rejection for this benchmark path. It is a pair emitter; primitive filtering is inside the GPU dense-grid narrow phase.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A4AFC-0823-45AF-A994-C82DE06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6E21F-B50F-49E6-A092-CDF80CCB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 / SOFA orchestration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0B098-77AA-4D6F-B323-3FE7770A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83F94-9F7E-4CA2-8554-402389BE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F8602-4287-4AEC-946B-6FFE4B5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 / CUDA narrow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9268E-9F4C-4D54-8842-A3834894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17DE3-29BD-4B8F-8944-B164A214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CollisionPipeline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D6293-E1FA-4061-807A-D257210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calls broad and narrow phases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C4C05-7F27-41F0-A995-41530AFC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554D3-591F-480F-988E-E7B5880A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GpuCollisionBroadPhase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8A37D-B161-45BB-A95C-43FEF38C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useObjectAabbCulling=false; emits tissue/blade 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3D838-ECA5-464E-B90F-A1F85121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B5839-410F-466E-BC17-2305AC95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436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GpuCollisionNarrowPhase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85E58-FD86-468E-A172-842C3D24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436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extracts SOFA triangles and builds host DeviceTriangle arrays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7BD0A-0821-4CE6-8E74-98324917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675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5C27-3367-4482-9566-065CD609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3723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H2D 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166F8-DF79-4457-A01F-8BE614D3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724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40 bytes per triangle, every measured step today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208D1-FBA3-4AA5-BAF5-A5DF1E6C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1428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38BDF8"/>
                </a:solidFill>
              </a:defRPr>
            </a:pPr>
            <a:r>
              <a:rPr sz="390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906B6-1E9F-4C8E-9BA4-B5110894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578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B5563"/>
                </a:solidFill>
              </a:defRPr>
            </a:pPr>
            <a:r>
              <a:rPr sz="2550" b="1" i="0">
                <a:solidFill>
                  <a:srgbClr val="4B5563"/>
                </a:solidFill>
              </a:rPr>
              <a:t>H2D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2F5E8-BA31-48A1-8CA0-84800E42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324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B5563"/>
                </a:solidFill>
              </a:defRPr>
            </a:pPr>
            <a:r>
              <a:rPr sz="1800" b="1" i="0">
                <a:solidFill>
                  <a:srgbClr val="4B5563"/>
                </a:solidFill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05A23-228F-4C6D-A736-AF565AD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8961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BBF24"/>
                </a:solidFill>
              </a:defRPr>
            </a:pPr>
            <a:r>
              <a:rPr sz="1725" b="0" i="0">
                <a:solidFill>
                  <a:srgbClr val="FBBF24"/>
                </a:solidFill>
              </a:rPr>
              <a:t>large path:</a:t>
            </a:r>
          </a:p>
          <a:p xmlns:a="http://schemas.openxmlformats.org/drawingml/2006/main">
            <a:pPr>
              <a:defRPr sz="1725" b="0" i="0">
                <a:solidFill>
                  <a:srgbClr val="FBBF24"/>
                </a:solidFill>
              </a:defRPr>
            </a:pPr>
            <a:r>
              <a:rPr sz="1725" b="0" i="0">
                <a:solidFill>
                  <a:srgbClr val="FBBF24"/>
                </a:solidFill>
              </a:rPr>
              <a:t>3.18 MB / 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D5406-1388-4AA5-A902-EC97E253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813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D59B1-A975-49E4-A0DB-209EBD87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861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 grid buckets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E1B62-20E3-4D1F-97CC-B7713BE0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861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insert tissue ids and blade ids per cell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432FC-79FE-4A3A-BCE9-28FF54E3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100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9DC62-083E-49C1-93DD-7C4974B3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Candidate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03FF46-5265-4E46-8A64-1D51880C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149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per cell cross product: tissueCount * toolCount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60CDE-88D6-4816-BEAB-8313EE9E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388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D01CFA-6FDE-4575-8034-53DCB9C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9436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Sort + unique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DB51EC-C781-4A29-98E1-32B83768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436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removes duplicate pairs from multi-cell triangles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BB6892-2D92-45A0-ABAF-AEE11261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70675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30A2E3-3D74-465E-923E-9E870711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3723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9E5EF-BEAC-4F3B-A0E9-55A1557E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7724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SAT triangle test; contact buffer stays GPU-side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9CC43E-9AB7-41D9-B3FD-8F16BC52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1132866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1902551-3B1C-4CA8-880E-13E183ED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F1D42-2D6A-4DA8-93C6-A966F522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E95F3-45B7-4C9B-BF2E-C5FBF66B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5CDC0-6F2F-44A2-A995-2515CBBB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Dense spatial grid: one grid, two per-cell lists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83ED0-8B81-4E7B-916E-AC9FD10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468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scene is divided once. Each cell stores tissue triangle ids and blade triangle ids separately, then generates candidate pairs from the cross-product inside that cell.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C2750-7D4F-47F9-91BD-AA6C5BB8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1. Triangle AABB overlaps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97BDB-C6D2-40FA-BD36-550D6D7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4310"/>
            <a:ext cx="518999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48FA3-AAB6-49F6-8BC0-430504DE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DB129-BBAD-446A-A66B-183E34B5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21F91-27D3-46BB-A1CD-472F2930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87177-8BB1-4918-944E-3B3BF042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F9003-DC38-4AA0-A058-A81EA63D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99BD0-6D8C-4FA7-A9F4-106CB48D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6DA97-0A07-4CE5-8312-4D02AD4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B2A26-A938-4ABA-AAFB-F3BE87BB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33C90-43F5-4398-B833-5AE0628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30B9A-673C-4289-B4D2-3D1C9773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B126E-C3C6-4FB2-A550-1A1F25E9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8FDEF-7429-4A14-B60B-5A79345E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06F60-F7E5-459F-BD1C-B6838BA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F60C6-9254-42A2-8000-216BA5DE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57D73-E435-482C-BB1E-BC14F4A5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AADE7-ECEC-4415-BF94-79226A1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62C11-EEDE-4CE8-B4B1-C3735DB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36B7E-49A5-4EB2-8142-08EC9853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E0FCA-969D-4108-BF62-202DE92B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BFDA4-331E-4608-B47D-C675811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D7DA62-A664-462B-8D0D-694684B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628BC-62FF-465E-83A6-C8F19C19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14899-B69C-47FD-B796-5AC4A32A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5449FC-498A-4A1D-9252-F45D69FA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4F1E03-1ED6-403C-B85B-59A0ABC7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8296C2-E9EC-4E72-86D9-FE63D4F2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D463C2-A3B5-4DC7-BDF7-200E94E4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29B455-AC05-4DA8-8986-932678FC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7B6F83-702E-4579-97A3-59139165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5FBDA6-E3B5-4E93-8536-8D170A4B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58946C-4ED8-4480-9222-7FD9E0B1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9E0995-54A3-4A0A-90E3-8354AC6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51001C-849E-4AD6-A189-07D4633F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06DB9C-6823-4A1C-9A53-191543C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C5768A-0C87-4672-8F97-5B794002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688A1C-E81B-40E7-B280-360B903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0818A5-E193-406D-BA21-660B0455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57D0BB-266B-4945-8F60-3BAF2B24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1FBF7F-869D-4EBE-BBFB-8170AB43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DDCC9D-6F5D-42BF-BC73-E97C69EF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16A3F1-9709-42BF-8568-05391626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28610"/>
            <a:ext cx="17145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E6F1EC-0B37-4B94-B294-E03AE23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010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T = tissue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B11B8C-5AE8-4BE6-8126-43A48B9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928610"/>
            <a:ext cx="17145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3BE59E-C207-4B65-9C75-68D78108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0010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B = blade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36E5B2-F911-41C5-866C-924F978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5734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2. A cell owns two id arrays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F4C8EE-3732-4C44-9668-0D6741AC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845" y="4065270"/>
            <a:ext cx="573631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D68EDE-6E44-49E0-BC9D-A55B8885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12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BDF8"/>
                </a:solidFill>
              </a:defRPr>
            </a:pPr>
            <a:r>
              <a:rPr sz="1800" b="0" i="0">
                <a:solidFill>
                  <a:srgbClr val="38BDF8"/>
                </a:solidFill>
              </a:rPr>
              <a:t>cellId = x + y*nx + z*nx*ny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EC13A0-D4C8-4526-B7DC-661ECAF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5124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4E43FC-8492-4ADF-97F2-9DAD0A0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DD4BF"/>
                </a:solidFill>
              </a:defRPr>
            </a:pPr>
            <a:r>
              <a:rPr sz="2100" b="1" i="0">
                <a:solidFill>
                  <a:srgbClr val="2DD4BF"/>
                </a:solidFill>
              </a:rPr>
              <a:t>cellTissueIds[cellId][0..x-1]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D93457-B546-4BA2-9032-655407F3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7171"/>
                </a:solidFill>
              </a:defRPr>
            </a:pPr>
            <a:r>
              <a:rPr sz="2100" b="1" i="0">
                <a:solidFill>
                  <a:srgbClr val="F87171"/>
                </a:solidFill>
              </a:rPr>
              <a:t>cellToolIds[cellId][0..y-1]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CE0FC6-2B41-424F-A60C-7C29F44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62650"/>
            <a:ext cx="5124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B5563"/>
                </a:solidFill>
              </a:defRPr>
            </a:pPr>
            <a:r>
              <a:rPr sz="1875" b="0" i="0">
                <a:solidFill>
                  <a:srgbClr val="4B5563"/>
                </a:solidFill>
              </a:rPr>
              <a:t>Counts are filled with atomicAdd during triangle insertion.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8A643C-BEAB-4D45-855B-0C854388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600950"/>
            <a:ext cx="57340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BBF24"/>
                </a:solidFill>
              </a:defRPr>
            </a:pPr>
            <a:r>
              <a:rPr sz="2250" b="1" i="0">
                <a:solidFill>
                  <a:srgbClr val="FBBF24"/>
                </a:solidFill>
              </a:rPr>
              <a:t>This is not two scene grids. It is one scene grid with two primitive lists per cell.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36B20E-CAEE-4ECF-9242-EBF8CA29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338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3. Candidate pairs are local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7044BB-91E9-493E-8317-58D66915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105" y="4322445"/>
            <a:ext cx="518999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74B991-1F2B-44FC-95A2-3022E23D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6101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pairsInCell = x *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49EDF6-5BA2-4D84-A8E3-981316FD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905" y="5183505"/>
            <a:ext cx="2204472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C9D634-62C8-47AD-8846-FF04AF94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353050"/>
            <a:ext cx="1866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T17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T18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T42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89AF3E-C70F-4622-9999-AE650D8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828" y="5183505"/>
            <a:ext cx="2204472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1D75D2-99C3-4818-82C4-5DC103D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5353050"/>
            <a:ext cx="1866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B3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B4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7813AC-F55E-4D08-A78E-5A9117AD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438900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BBF24"/>
                </a:solidFill>
              </a:defRPr>
            </a:pPr>
            <a:r>
              <a:rPr sz="2175" b="1" i="0">
                <a:solidFill>
                  <a:srgbClr val="FBBF24"/>
                </a:solidFill>
              </a:rPr>
              <a:t>3 tissue ids x 2 blade ids = 6 raw pairs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1BBDC6-7FF6-4EE5-9166-4DCC872C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99135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Duplicates are removed before exact testing because large triangles may touch multiple cells.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BD3EA6-E679-4AE5-BA02-FC111139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20338593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9CA6FE8-62BE-42D0-B51B-205C412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8E6D-6D03-4A08-BC33-EDCCF994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6AE37-9B90-44AB-ABCA-47F28179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54B4C-32D0-4E27-83D2-3A8D26F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CUDA kernels and thread allocation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E1DD4-8EC0-49A8-BCF7-9DE4A4F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285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current GPU narrow phase is a fixed sequence of reusable kernels plus a Thrust dedup pass before exact contact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A4BD4-2270-417B-9A05-1CB9F137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302594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40203-BD7F-4835-9661-D72289B7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067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827F9-1D7C-4685-A7BF-675FDE6A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2057400"/>
            <a:ext cx="2847064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35509-0060-4DFC-AED4-6AB45F1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Thread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5AFCA-617D-4299-9298-55E5230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2057400"/>
            <a:ext cx="307482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4C833-E200-4B80-AAE3-F95A18F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A5A30-927F-43F0-B813-EA92278C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D6FF8-F4B0-4297-9167-A1F50F93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clear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3FE85-71CF-4565-94C9-5F62EDA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2590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B1EF5-1DF9-41C2-9A43-9A2E686B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cell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7EF55-0ACE-4315-9511-D77C8C2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2590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50F51-799C-4AC1-A02B-B4FCC3BF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zero cell counts and counters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A85A7-85EE-47F8-9835-F5B0D0B6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F1310-FD27-4347-B515-6E413F4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compute AABBs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B50B7-106A-4AA6-9CF7-9F4ABCF0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3162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4A0C5-0F47-4EBF-8EBE-154958FD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57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triangle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3AA7E-9E4B-46F6-940D-8291663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3162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DAA5C-571D-48CB-ABAB-923B5EE8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57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inflated tissue/blade bounds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712ED-3109-40B5-96F9-59E9F1E9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4A18B-2CE2-4A36-89B4-A386CC6D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insert triangles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30591-9AAC-469F-9B25-07449779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3733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3F4DE-122A-4CFF-BA19-E0A4E89D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triangle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0DFC0F-E55C-4D4E-A3B8-4D2068DC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3733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9DED4-DC31-4BD0-8693-3ACD3E35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cell id lists via atomicAdd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1C6E7-B1A9-4BCF-BF9F-1CCA8A55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65D52B-F160-401E-989A-19BA9958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generate pairs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74BD9F-3A22-4DF6-8D8E-57014725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4305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794426-9746-4C8A-BDFB-3C52032B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00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block = 1 cell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6761A7-13FA-4901-8298-0A28272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4305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DD256-E009-4082-B29E-B8078063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00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encoded uint64 raw pairs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B203D8-6094-418E-9E59-FA80125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C56FE-7255-4E12-B749-F3DF34A5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thrust::sort + thrust::unique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F18697-A204-4169-A63D-F25B6B33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4876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36F30A-4468-49BF-AA17-65D80979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72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device-wide parallel primitives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BCB54C-76B2-40F4-BCEE-5C71D268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4876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BC4191-798B-4DAE-AE8B-D4A1F962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unique candidate pairs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F7072C-5716-4B6A-9DC9-6AD82358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B86E20-92B4-4111-925F-9E04103D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exact contact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A7E368-E122-432E-B44D-696884FE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5448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7371BA-B10C-4345-8A57-A5E8CACD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3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unique pair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223B43-D6B5-4697-B33C-4B0CAB64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5448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26EA08-6945-4CB8-86D8-9129565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543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DeviceExactContact buffer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73F654-473D-4006-83D8-3738A4D0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2057400"/>
            <a:ext cx="6987064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D471D5-3DD8-485D-A126-6340CDB5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66950"/>
            <a:ext cx="649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8BDF8"/>
                </a:solidFill>
              </a:defRPr>
            </a:pPr>
            <a:r>
              <a:rPr sz="2400" b="1" i="0">
                <a:solidFill>
                  <a:srgbClr val="38BDF8"/>
                </a:solidFill>
              </a:rPr>
              <a:t>Exact contact kernel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D48A34-2F35-42C2-AD0A-D5C6476F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743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decode ids; load DeviceTriangle A/B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FD4E69-44FC-414E-A6D1-4B1D0C0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24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run triangle SAT overlap test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FBBE71-E013-495B-B7B3-E04FECB7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505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if hit: atomicAdd(contactCount)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A0E8A7-2BF2-4AF6-A8C9-886F9370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4362450"/>
            <a:ext cx="6987064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16733C-8F8F-4948-BB40-BA57B07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9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DD4BF"/>
                </a:solidFill>
              </a:defRPr>
            </a:pPr>
            <a:r>
              <a:rPr sz="2400" b="1" i="0">
                <a:solidFill>
                  <a:srgbClr val="2DD4BF"/>
                </a:solidFill>
              </a:rPr>
              <a:t>Why dedup is active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63BD40-18CA-4DF6-BEF7-8F6566F8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067300"/>
            <a:ext cx="649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A triangle can overlap many cells. Without sort/unique, exact testing repeats pairs.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5AA5E6-625C-4A18-A170-67DD82BE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7215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BBF24"/>
                </a:solidFill>
              </a:defRPr>
            </a:pPr>
            <a:r>
              <a:rPr sz="1800" b="1" i="0">
                <a:solidFill>
                  <a:srgbClr val="FBBF24"/>
                </a:solidFill>
              </a:rPr>
              <a:t>Current benchmark uses deduplicatePairs=true.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7AD7A1-7FD0-4F7D-B2E9-D4AF6CC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6667500"/>
            <a:ext cx="6987064" cy="2739390"/>
          </a:xfrm>
          <a:prstGeom xmlns:a="http://schemas.openxmlformats.org/drawingml/2006/main" prst="roundRect">
            <a:avLst>
              <a:gd name="adj" fmla="val 7650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B211F1-143B-413E-8D4A-1F660435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486650"/>
            <a:ext cx="645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A78BFA"/>
                </a:solidFill>
              </a:defRPr>
            </a:pPr>
            <a:r>
              <a:rPr sz="2250" b="1" i="0">
                <a:solidFill>
                  <a:srgbClr val="A78BFA"/>
                </a:solidFill>
              </a:rPr>
              <a:t>Main call path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4338E6-611C-4B09-935D-736C7064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962900"/>
            <a:ext cx="645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GpuCollisionNarrowPhase::endNarrowPhase()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0073BF-88B9-479E-B1B8-E163DE5E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8343900"/>
            <a:ext cx="645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-&gt; computeDenseGridTriangleContacts()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CE3197-4C69-4A0C-9097-F3BAF7B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2102857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9B3FA7E-CD20-4FB7-AB1A-C22CAE7A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E2A58-D3BF-49BC-8A76-12BC86E7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B5A97-84A8-4E92-BC6A-53544D4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390EE-C1FE-4FE4-9394-DEBD0E3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Memory layout and transfer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5D309-3D79-4F17-92FB-16FC0B24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630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Device memory is allocated once and reused. The biggest remaining cost is that the current path still repacks and uploads triangle geometry every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923E2-5ACE-4C39-8DB7-C61592C9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Global VRAM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2A215-A38B-4DFC-8AEA-82CA11CD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6560"/>
            <a:ext cx="366258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2D1E5-324C-4E78-B3D1-B8934C1C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AC8FB-8C33-4B9D-B497-BBDDD40A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2956560"/>
            <a:ext cx="44336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6F69C-72EB-4863-A0DC-5CFFE804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9A8EC-FFBA-432D-9734-718AEF6C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9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274C6-F429-4342-ACB0-E17C71E5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DeviceTriangle[]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A2B9E-E17A-4BDB-AB69-E9D97542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3489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838A3-6B1C-4EE1-B5B5-5371C18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81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tissue and blade triangle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A7F5F-7393-41AD-ABF2-32FE2E77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1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1AA41-F03E-4761-9C0C-5C37626D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DeviceAabb[]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27813-9626-4ECB-9B42-E26E93A7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4061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F6856-6FC1-4C43-AF7E-DE9C7B06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inflated per-triangle bounds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0AF45-43E4-49C8-9B73-DE13CC2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2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0A02B-BC23-472E-9438-6DA6CD86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DeviceCellBucket[]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886B5-269E-443B-933C-4DAA068A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4632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1A9B9-6083-46D4-A448-FDF6A07C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24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per-cell tissue/tool 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BDE0B-AEB9-411D-BA69-DB453E85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4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BCA91-72C4-45B8-ADBD-D4692C95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cellTissueIds / cellToolIds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4E83D-7977-407F-A562-4C7EC079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5204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C0B6C-4B57-49A8-B104-ACE670E8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95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flat primitive id lists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1FAC5-6D3A-4799-9BBF-0AF2F881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5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F13FE-91CF-46EF-A21A-CB0EEC20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uint64 candidatePairs[]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30A0E-3CC4-44EF-A647-15938014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5775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AD501-A4A0-4EF3-9E21-65C5D40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867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encoded tissueId/bladeId pairs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E0E3E-5129-48C1-9AAE-92AA605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7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69CFB-8714-42A9-A77E-30684940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8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DeviceExactContact[]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C2059-C1A2-43A9-964C-D6F8C0D4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6347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E5AD87-F377-4584-BEE1-9A95043D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38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GPU contact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7CE37A-29ED-4425-8090-FC8B36D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Transfer boundary today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457E11-79EB-42B4-97AF-24ABCA4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4660"/>
            <a:ext cx="8210550" cy="2076450"/>
          </a:xfrm>
          <a:prstGeom xmlns:a="http://schemas.openxmlformats.org/drawingml/2006/main" prst="roundRect">
            <a:avLst>
              <a:gd name="adj" fmla="val 1009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797B53-4028-40B8-90B1-9B6923C6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BBF24"/>
                </a:solidFill>
              </a:defRPr>
            </a:pPr>
            <a:r>
              <a:rPr sz="2700" b="1" i="0">
                <a:solidFill>
                  <a:srgbClr val="FBBF24"/>
                </a:solidFill>
              </a:rPr>
              <a:t>H2D every step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D8B1B4-4189-4586-A12F-94369552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(tissueTris + bladeTris) * 40 bytes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EE1194-E6E6-4C86-9B77-5D6EFB0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Large scene: 3.18 MB per step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8463D7-2EA6-4CA6-A8FB-EC6760BC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99710"/>
            <a:ext cx="8210550" cy="1866900"/>
          </a:xfrm>
          <a:prstGeom xmlns:a="http://schemas.openxmlformats.org/drawingml/2006/main" prst="roundRect">
            <a:avLst>
              <a:gd name="adj" fmla="val 1122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BDF03D-E4F7-403E-BC16-35235955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2450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2DD4BF"/>
                </a:solidFill>
              </a:defRPr>
            </a:pPr>
            <a:r>
              <a:rPr sz="2700" b="1" i="0">
                <a:solidFill>
                  <a:srgbClr val="2DD4BF"/>
                </a:solidFill>
              </a:rPr>
              <a:t>D2H minimized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0D531C-5152-4FE8-9AA3-02B4A3B0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7695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11827"/>
                </a:solidFill>
              </a:defRPr>
            </a:pPr>
            <a:r>
              <a:rPr sz="1950" b="0" i="0">
                <a:solidFill>
                  <a:srgbClr val="111827"/>
                </a:solidFill>
              </a:rPr>
              <a:t>Contacts stay device-side; only counters are copied back.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00F0DD-FBBC-4FFD-BED8-E7BCB4BF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49605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Measured D2H: 16 bytes/step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467FE2-77C6-4A0B-AF97-AF9FB4A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95210"/>
            <a:ext cx="82105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79E17A-B0AA-4C9F-8F0C-95FA689F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7152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7171"/>
                </a:solidFill>
              </a:defRPr>
            </a:pPr>
            <a:r>
              <a:rPr sz="2550" b="1" i="0">
                <a:solidFill>
                  <a:srgbClr val="F87171"/>
                </a:solidFill>
              </a:rPr>
              <a:t>Implication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D7378-BEEE-4C4A-BBE6-2121F870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229600"/>
            <a:ext cx="7639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The measured wall time is not the final GPU potential. Extraction, packing, H2D upload, syncs, and SOFA traversal still sit in the current path.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348F30-A9F2-4DBC-8004-99A09691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4562048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2E4437C-823B-4AEF-93B1-05A8DA85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BE8C2-7051-49E2-A36B-4FF91C9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A4C77-11B4-41CA-90B7-1DE798D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EB50E-9EEC-49E4-AC48-761EA37A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Theoretical scaling: GPU advantage grows with triangles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E92C2-68F4-4900-A327-408EE6E5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497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Projection only, not measured timing: assuming geometry, candidates, contacts, solver vectors, and response stay GPU-resident with no per-step triangle H2D upload.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8BE3C-502E-4D46-8776-7C7A53DF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9238488" cy="7052310"/>
          </a:xfrm>
          <a:prstGeom xmlns:a="http://schemas.openxmlformats.org/drawingml/2006/main" prst="roundRect">
            <a:avLst>
              <a:gd name="adj" fmla="val 2971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9D615-6C8F-4E1E-B604-CB3D7F7E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3180"/>
            <a:ext cx="40005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B2FD5-84B5-4A17-8B88-A02A82D3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65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projected GPU speedup over CPU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9F064-9BD4-42DB-BCE7-A71EF927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83180"/>
            <a:ext cx="1619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656A0-43B3-4B29-9DE2-006D7BA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67000"/>
            <a:ext cx="1276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starts at 2x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30E0D-D67B-477D-950C-697FE178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2x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4474F-758A-4A56-99B1-17E517E2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~75k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9AB2B-C745-489C-B4F0-FB23ABAF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1143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50C4F-F2DB-47EA-8C0B-6628C748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3962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0AC9E-B828-4B06-81A6-295E991B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DD4BF"/>
                </a:solidFill>
              </a:defRPr>
            </a:pPr>
            <a:r>
              <a:rPr sz="2250" b="1" i="0">
                <a:solidFill>
                  <a:srgbClr val="2DD4BF"/>
                </a:solidFill>
              </a:rPr>
              <a:t>2.0x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C27D7-696C-420A-AD8B-202F2F5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4x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69BB5-2123-4E88-B3AB-04DACC67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2435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~150k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0CFC4-22E5-4353-9D67-04BAA8C1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1676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B8BA4-965B-4B0F-A284-DD37B3E3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43400"/>
            <a:ext cx="3352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FC7BE-81E2-4828-AB6E-8B7DD3E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DD4BF"/>
                </a:solidFill>
              </a:defRPr>
            </a:pPr>
            <a:r>
              <a:rPr sz="2250" b="1" i="0">
                <a:solidFill>
                  <a:srgbClr val="2DD4BF"/>
                </a:solidFill>
              </a:rPr>
              <a:t>3.0x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6E127-8DBE-448B-A07C-2A8A27D1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8x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E4BA6-F836-466B-8347-3F8DF862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~300k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77C92-F1B6-45A7-AC7E-68654915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2514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C8F57-8199-4926-B8B6-DE0BB6D1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2514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0F4FD-F55A-4738-A0C1-0FA29D29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DD4BF"/>
                </a:solidFill>
              </a:defRPr>
            </a:pPr>
            <a:r>
              <a:rPr sz="2250" b="1" i="0">
                <a:solidFill>
                  <a:srgbClr val="2DD4BF"/>
                </a:solidFill>
              </a:rPr>
              <a:t>4.5x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9A7E4-F562-458E-90E1-D2F3A8E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16x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BCFAE-B925-4EC0-AF59-251A8AB8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11505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~600k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84B9F-D07E-4B4E-AF30-F115237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72200"/>
            <a:ext cx="3657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491B2-1CCA-430F-A5BA-3D525344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72200"/>
            <a:ext cx="1371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13C03A-88F9-43F8-B935-4FEDA36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0769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DD4BF"/>
                </a:solidFill>
              </a:defRPr>
            </a:pPr>
            <a:r>
              <a:rPr sz="2250" b="1" i="0">
                <a:solidFill>
                  <a:srgbClr val="2DD4BF"/>
                </a:solidFill>
              </a:rPr>
              <a:t>6.5x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1B170-0648-4A7A-8D9F-8756B4E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7230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32x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A64B1-1490-480D-BDD6-9257439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0104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~1.2M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593952-C7A6-4DB1-B20E-EE3C595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010400"/>
            <a:ext cx="4953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F742D-1B8B-4A6F-A9B6-9764606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048500"/>
            <a:ext cx="152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E5E372-ECBF-49E3-8B48-CCD639CF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9723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DD4BF"/>
                </a:solidFill>
              </a:defRPr>
            </a:pPr>
            <a:r>
              <a:rPr sz="2250" b="1" i="0">
                <a:solidFill>
                  <a:srgbClr val="2DD4BF"/>
                </a:solidFill>
              </a:rPr>
              <a:t>9.0x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86D818-8C56-4D38-8CE1-C1E4CF97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629650"/>
            <a:ext cx="8743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Speedup increases because GPU parallel occupancy improves while CPU broad/narrow/contact work and memory traffic scale less favorably.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193217-A1FC-419B-8639-D64882D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354580"/>
            <a:ext cx="161055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296D9D-BD91-488F-B56D-5BD54C32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38400"/>
            <a:ext cx="139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Tris scale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82DF00-FDA6-4D14-9E5F-AF5445D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143" y="2354580"/>
            <a:ext cx="1705293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D9EB3B-E442-487B-86EA-0B48680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3840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CPU cost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F2E4A1-CE9D-4D3D-AE45-ADED7D1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736" y="2354580"/>
            <a:ext cx="1705293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387788-7CA8-44DE-BB1D-872CE0DE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43840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GPU cost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CDC44D-3371-483E-9ABC-1391641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330" y="2354580"/>
            <a:ext cx="189477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976F4B-9E36-408C-BC6C-54FBD32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43840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GPU faster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A2F000-9408-4B4E-A73E-78A801D4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887980"/>
            <a:ext cx="161055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25C188-BEC9-4167-B2BB-FD4BB352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2x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B518CC-C67D-41B7-9A38-BD8DC5E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143" y="28879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A1AE83-F97C-48BA-A59F-84D4C47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9908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938D76-1593-4A1A-B037-2ECD84B7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736" y="28879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98A3DF-2B16-425B-87F0-3D173162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9908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503999-B93E-4D58-927A-D1F245FD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330" y="2887980"/>
            <a:ext cx="189477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2B9E0C-08DB-4178-BA48-967EDE2F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99085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2.0x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AB1269-8AFF-44BA-AEBF-BE2BF153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3459480"/>
            <a:ext cx="161055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72EB39-C48F-4A63-B725-2F809929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5623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4x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C4EE51-E70B-4F38-B2BC-7B15B814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143" y="34594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45EFAD-D5DC-40A5-8968-B0F0674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562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5.6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830869-83AC-46C3-9490-4D6A1C57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736" y="34594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837C31-8D88-4505-8AD0-E1A7055A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3562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1.9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5769F6-3290-4DCC-9538-D7FE35A8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330" y="3459480"/>
            <a:ext cx="189477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84B1FB-72A4-4DD0-B2A2-0E54353D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356235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3.0x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3F0CCA-167C-4277-A4E7-6412A65E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030980"/>
            <a:ext cx="161055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C5B233-4E5F-4BF4-9546-F7C8813B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338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8x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9B986B-B61F-49B7-8A58-9A4D8F02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143" y="40309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BCF0A1-CCCD-4965-A527-006F901C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1338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13.5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B824D1-7FEC-4F2D-A767-F17B457C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736" y="40309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2F7EA0-441C-41A7-B82E-3FB94B3B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1338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3.0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0F7B3A-1730-4AA9-A83A-9A7E2118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330" y="4030980"/>
            <a:ext cx="189477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E0C04A-AD73-4FE4-836D-DD16A09E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413385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4.5x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6E3A69-4AD2-4F90-8AD3-FB720CD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602480"/>
            <a:ext cx="161055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563E17-9A9B-4380-A8E8-32B06A8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053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16x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47574F-39CA-4FA3-A82E-F57B76D6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143" y="46024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0C2A15-98D9-4173-A9F0-4D2CB2F2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705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32.0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40A419-ADCC-4DA9-840B-232C12A1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736" y="46024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CF2CAA-0E4D-470B-A2ED-5EC638D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705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4.9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116473-FBE1-4D17-B834-272ABCD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330" y="4602480"/>
            <a:ext cx="189477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3BC271-6991-4592-BBD6-9C034D54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470535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6.5x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80CE9E-D86A-4B54-BE07-A689368B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173980"/>
            <a:ext cx="161055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C8107B-F2F5-4527-9748-36925BBC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768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32x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093143-ED33-431B-A18B-62C471F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143" y="51739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77142E-AAB4-4DDE-B6F6-E35E50D2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2768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75.0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1B833D-958D-4CF2-A199-3EB6AE1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736" y="5173980"/>
            <a:ext cx="170529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C3FD16B-5C37-4581-B61A-D52F4228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52768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8.3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A674AEA-29B0-4F78-9214-6F235BA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330" y="5173980"/>
            <a:ext cx="189477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CD1FEC4-3987-47FC-9BB7-567C3898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5276850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9.0x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48B1FB-4686-4093-829E-36AA1DE5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840730"/>
            <a:ext cx="7258812" cy="3566160"/>
          </a:xfrm>
          <a:prstGeom xmlns:a="http://schemas.openxmlformats.org/drawingml/2006/main" prst="roundRect">
            <a:avLst>
              <a:gd name="adj" fmla="val 587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6FFC600-FEDC-4CEE-88B3-0CB7A297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62700"/>
            <a:ext cx="6724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How to read this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FFD399C-C1FE-496F-8D50-97BCB1E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896100"/>
            <a:ext cx="6724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4B5563"/>
                </a:solidFill>
              </a:defRPr>
            </a:pPr>
            <a:r>
              <a:rPr sz="2175" b="0" i="0">
                <a:solidFill>
                  <a:srgbClr val="4B5563"/>
                </a:solidFill>
              </a:rPr>
              <a:t>These are normalized theoretical cost units, not current measured milliseconds.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046287-715D-47E8-8DA1-43EA73B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715250"/>
            <a:ext cx="6724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D4BF"/>
                </a:solidFill>
              </a:defRPr>
            </a:pPr>
            <a:r>
              <a:rPr sz="2550" b="1" i="0">
                <a:solidFill>
                  <a:srgbClr val="2DD4BF"/>
                </a:solidFill>
              </a:rPr>
              <a:t>2x -&gt; 3x -&gt; 4.5x -&gt; 6.5x -&gt; 9x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EFF2C45-5768-4A18-A40E-F041AAF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248650"/>
            <a:ext cx="6724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4B5563"/>
                </a:solidFill>
              </a:defRPr>
            </a:pPr>
            <a:r>
              <a:rPr sz="2100" b="0" i="0">
                <a:solidFill>
                  <a:srgbClr val="4B5563"/>
                </a:solidFill>
              </a:rPr>
              <a:t>The model assumes the next architecture step removes per-step CPU/GPU transfers from the hot path.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C91D69-CC0E-46A2-B16D-F3735F9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2864308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A81CE123-9A7B-4178-AEB2-40A12790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222C6-1159-412C-AB5E-8F819E8F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7DCA4-5B8A-45DB-B005-7B8044A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A104E-DA86-4BE2-9869-CD725449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current wall time is not the final GPU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8B3B4-8D8F-4122-B2C7-E8AA162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230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current implementation proves the GPU path exists, but the theoretical speedup appears only when the remaining CPU-owned pieces are removed from the hot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2EA7A-9040-43D1-87C6-DECA98F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779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Current bottleneck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3380B-0F58-4478-B154-22FF3ADD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5610"/>
            <a:ext cx="7800023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32344-CDB3-47DE-B98F-24773514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7219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87171"/>
                </a:solidFill>
              </a:defRPr>
            </a:pPr>
            <a:r>
              <a:rPr sz="2850" b="1" i="0">
                <a:solidFill>
                  <a:srgbClr val="F87171"/>
                </a:solidFill>
              </a:rPr>
              <a:t>CPU still prepares the GPU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C6E3D-34AE-492D-964A-D4D181A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7219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4B5563"/>
                </a:solidFill>
              </a:defRPr>
            </a:pPr>
            <a:r>
              <a:rPr sz="2175" b="0" i="0">
                <a:solidFill>
                  <a:srgbClr val="4B5563"/>
                </a:solidFill>
              </a:rPr>
              <a:t>SOFA traversal, triangle extraction, host packing, per-step H2D upload, synchronization, and logging still sit around the kernels.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0DCD8-131A-4581-AAEC-9DBCC983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10350"/>
            <a:ext cx="7791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So the measured GPU wall time is a transitional integration cost, not the theoretical end-state cost.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CD9D6-845E-4C00-95A4-5E193215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2354580"/>
            <a:ext cx="8621078" cy="2152650"/>
          </a:xfrm>
          <a:prstGeom xmlns:a="http://schemas.openxmlformats.org/drawingml/2006/main" prst="roundRect">
            <a:avLst>
              <a:gd name="adj" fmla="val 9735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C0A5D-A7F4-4921-AE93-BFB47E4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8058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D4BF"/>
                </a:solidFill>
              </a:defRPr>
            </a:pPr>
            <a:r>
              <a:rPr sz="2550" b="1" i="0">
                <a:solidFill>
                  <a:srgbClr val="2DD4BF"/>
                </a:solidFill>
              </a:rPr>
              <a:t>What is already good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E9D0B-1C58-4ADE-AA40-6AC349AA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05150"/>
            <a:ext cx="8058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11827"/>
                </a:solidFill>
              </a:defRPr>
            </a:pPr>
            <a:r>
              <a:rPr sz="1950" b="0" i="0">
                <a:solidFill>
                  <a:srgbClr val="111827"/>
                </a:solidFill>
              </a:rPr>
              <a:t>Object broad phase removed. Grid filtering, dedup, exact contacts, and contact residency are active.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E4E10-C1EC-466C-AB19-CBD269BB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290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The plugin now exposes the right GPU-side stages to optimize.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E411D-D5DF-4688-BFC1-60023CD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4716780"/>
            <a:ext cx="8621078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AA339-CBF3-46FC-AACC-5BE4CC7A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53000"/>
            <a:ext cx="8058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BBF24"/>
                </a:solidFill>
              </a:defRPr>
            </a:pPr>
            <a:r>
              <a:rPr sz="2550" b="1" i="0">
                <a:solidFill>
                  <a:srgbClr val="FBBF24"/>
                </a:solidFill>
              </a:rPr>
              <a:t>What blocks speedup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86CBD-8BC7-42DC-9292-DA69A1FE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673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1. Per-step triangle upload scales with geometry.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FF0C4-00B7-4041-BCC5-880E1D04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8864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2. Dense grid launches over many empty cells.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3EC5E-BFE7-4E9F-B538-FDF3CEC8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3055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3. Sort/unique grows with duplicate candidates.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3412F-E05C-421C-909D-CFC8E795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7246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4. GTX 1650 Ti launch/sync overhead is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06264-946F-4C6B-A2C1-D5558678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7650480"/>
            <a:ext cx="8621078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23D36-F17E-4F78-81C7-77F6C135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962900"/>
            <a:ext cx="805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8BDF8"/>
                </a:solidFill>
              </a:defRPr>
            </a:pPr>
            <a:r>
              <a:rPr sz="2400" b="1" i="0">
                <a:solidFill>
                  <a:srgbClr val="38BDF8"/>
                </a:solidFill>
              </a:rPr>
              <a:t>Next implementation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11681-C90E-4D20-8DD4-58FC33D3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439150"/>
            <a:ext cx="805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Keep geometry resident, build active-cell lists, use CUB compaction, then connect GPU response so contacts never return to CPU.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8F439-1053-4197-A7C1-1D2553B4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5104690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126C2AC-73B0-4529-86F1-D88929A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A3093-2AF7-4929-B0F3-A2F1680F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58E26-D137-4140-ABCD-F5FD869C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0DA4C-6E3F-45D4-BB88-9BB4F893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this is already a real SOFA plugin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05A37-E886-4075-9AC3-3DF0A615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344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This is not just a standalone CUDA demo. It is integrated into SOFA's collision pipeline with configurable components, CUDA backend execution, fallback controls, and benchmark instrumentation.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2E4A1-06DD-4329-9AFE-E9BBBDE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D50A2-4F24-41B9-97E6-37F9D6D7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SOFA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BF7C5-CC70-4248-891F-2034B42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GpuCollisionBroadPhase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50C66-3EEC-4A08-9947-72C1188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GpuCollisionNarrowPhase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B406E-F384-4EB8-AD07-2AE64B1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GpuPipelineBenchmarkController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77928-93B4-4DEC-9768-178C6118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354580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F15D4-6606-4BAE-8DAD-9800803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Pipeline 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8440D-6B2B-4E13-B079-1C4535E8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The plugin plugs into SOFA CollisionPipeline and replaces the broad/narrow phase path for the tissue/blade benchmark scenes.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7B7C7-0EE4-428A-B4EB-E14F11C4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354580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47122-B17F-4CB6-9D8D-7C45F3C3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528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CUDA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D5285-54D6-422D-99F0-B18D7DB7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84810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Dense grid kernels, device candidate buffers, Thrust sort/unique, and exact triangle contact generation are implemented in the backend.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EA0B3-4FC8-400C-B564-4AB5C334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5035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B35E9-CBAA-46A3-BD1C-38D5AEE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9913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Configurable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B15B6-4728-40EA-AA10-E94F079C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4866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Grid bounds, resolution, capacities, deduplication, host-copy behavior, fallback, and logging are exposed as plugin settings.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92785-E492-47A1-9C4A-79A71E6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995035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7D41A-1733-4458-BEC3-613D3960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9913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Benchmark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1E698-DA1E-445A-B05E-77D38CF2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4866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CPU reference scenes, GPU dense-grid scenes, transfer metrics, stage timing, scaling runs, and report outputs are already built.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4599B-2155-4F2A-87AD-E9149E6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5995035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29CFE-A4FB-4664-8CFE-12C28F33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389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D4BF"/>
                </a:solidFill>
              </a:defRPr>
            </a:pPr>
            <a:r>
              <a:rPr sz="2550" b="1" i="0">
                <a:solidFill>
                  <a:srgbClr val="2DD4BF"/>
                </a:solidFill>
              </a:rPr>
              <a:t>Strong progress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56DF66-94E6-4860-BF9F-1E7D70A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342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The important architecture shift is done: primitive candidate generation and exact contact work are now GPU-side, with CPU transfers measured instead of hidden.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DBA90-5049-4F8B-B612-D189A46E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20795932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5176449-E518-44FA-8EAC-A569AC6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1BBA6-D269-460C-AF09-B72A7E0F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94490-E700-4180-9B59-AEBE92A7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98AE1-D34F-44BA-ABEB-BFFAE358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Next step: GPU collision response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31B41-BCA1-4661-93FC-8893A66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592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To make the pipeline fully integrated, the next milestone is to consume the GPU contact buffer directly in collision response instead of stopping at detection-only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122A4-B6F0-4A88-83D0-61E86B09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E42A2-F92D-4072-AD1C-7706E57E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 contacts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8B329-8E25-4DEA-B491-BB475D2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DeviceExactContact buffer from narrow 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88ADE-8062-48AC-9E57-859B222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F250F-8C4F-4063-BC54-321B48EB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4D9B2-8BC4-4799-B012-D97009E3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Response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5789D-3598-4AA4-ACD4-523EE310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normal, gap, feature ids, barycentric data, material 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96E13-896E-4AEA-9D49-29F196CB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65F74-C2B5-4CC7-A0B7-8E7556D6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EC8BA-B3C9-4FED-AF81-8CF7BAC3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Contact forces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06307-289A-49B0-B129-C5D0B811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penalty/compliant response first; constraints 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0B85D-0C31-4DA8-8D6C-BBAFBE71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8575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A3AFD-6806-4993-8777-4BE5E80A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95FF6-F329-4A87-AA49-9DF3386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Tissue state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0D3D5-81F2-4FA1-921F-77511D5B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apply forces/constraints without contact D2H round-trip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E91C9-F08A-448E-B746-D0228EBC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9580"/>
            <a:ext cx="5461000" cy="373761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E120B-34EC-4822-9A6B-D32E01BF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MVP response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8157E-C020-4414-8842-5FBB850A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Start with compliant or penalty response on GPU. It is the fastest way to validate tool reaction force and penetration control.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F13CD-DFA5-4290-9A08-B6058F95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259580"/>
            <a:ext cx="5461000" cy="373761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9E67C-2643-4117-A48D-ACA43364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Full integration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79B6B-59C5-489E-AE04-33FDC5C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245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Contacts, response forces, solver vectors, and tissue state should remain resident in VRAM during the steady-state simulation step.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74FB4-3356-41C8-8680-F8296CDC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4259580"/>
            <a:ext cx="5461000" cy="373761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12D18-F000-4EB4-A0FB-B962B6F7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2578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Exit criteria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5A537-8F95-492A-9090-95CB852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7721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No per-step contact-copy to CPU, stable contact forces, bounded penetration, and benchmark logs showing response time as a measured GPU stage.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C7A2E-FEF6-4168-B29C-725C3D5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82940"/>
            <a:ext cx="168402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F84837-8FBE-40E0-ADA8-3F5C1C8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2965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Final goal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71414-6E85-4A31-BA4A-42F1FECE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496300"/>
            <a:ext cx="13963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4B5563"/>
                </a:solidFill>
              </a:defRPr>
            </a:pPr>
            <a:r>
              <a:rPr sz="2250" b="0" i="0">
                <a:solidFill>
                  <a:srgbClr val="4B5563"/>
                </a:solidFill>
              </a:rPr>
              <a:t>Detection and response become one GPU-resident surgical collision pipeline: tissue/tool state -&gt; contacts -&gt; response -&gt; solver update.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CC415-89B9-4A38-B88C-6D4A7EE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287214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2026-05-08T03:06:02.6490000Z</dcterms:created>
  <dcterms:modified xsi:type="dcterms:W3CDTF">2026-05-08T03:06:02.6490000Z</dcterms:modified>
</coreProperties>
</file>