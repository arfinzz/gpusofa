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cb266c4ab4109" /><Relationship Type="http://schemas.openxmlformats.org/officeDocument/2006/relationships/extended-properties" Target="/docProps/app.xml" Id="Reb6933a961584439" /><Relationship Type="http://schemas.openxmlformats.org/officeDocument/2006/relationships/officeDocument" Target="/ppt/presentation.xml" Id="R7e8b7f74ce8b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3710cfc574d83"/>
  </p:sldMasterIdLst>
  <p:notesMasterIdLst>
    <p:notesMasterId xmlns:r="http://schemas.openxmlformats.org/officeDocument/2006/relationships" r:id="R59bb32f94a444993"/>
  </p:notesMasterIdLst>
  <p:sldIdLst>
    <p:sldId xmlns:r="http://schemas.openxmlformats.org/officeDocument/2006/relationships" id="256" r:id="Re093e9bd5fee47af"/>
    <p:sldId xmlns:r="http://schemas.openxmlformats.org/officeDocument/2006/relationships" id="257" r:id="R55da5255ec404be4"/>
    <p:sldId xmlns:r="http://schemas.openxmlformats.org/officeDocument/2006/relationships" id="258" r:id="Rd13db4e4b92b4523"/>
    <p:sldId xmlns:r="http://schemas.openxmlformats.org/officeDocument/2006/relationships" id="259" r:id="R4c74fcb18cad4db8"/>
    <p:sldId xmlns:r="http://schemas.openxmlformats.org/officeDocument/2006/relationships" id="260" r:id="Ra5863427f6c145c6"/>
    <p:sldId xmlns:r="http://schemas.openxmlformats.org/officeDocument/2006/relationships" id="261" r:id="R778ff419efb04d36"/>
    <p:sldId xmlns:r="http://schemas.openxmlformats.org/officeDocument/2006/relationships" id="262" r:id="R2fddcc55cc9e4a76"/>
    <p:sldId xmlns:r="http://schemas.openxmlformats.org/officeDocument/2006/relationships" id="263" r:id="Rce4234eb8acf4328"/>
    <p:sldId xmlns:r="http://schemas.openxmlformats.org/officeDocument/2006/relationships" id="264" r:id="R79c10f006f98478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3710cfc574d83" /><Relationship Type="http://schemas.openxmlformats.org/officeDocument/2006/relationships/theme" Target="/ppt/theme/theme1.xml" Id="Re5e281c804c640fe" /><Relationship Type="http://schemas.openxmlformats.org/officeDocument/2006/relationships/notesMaster" Target="/ppt/notesMasters/notesMaster1.xml" Id="R59bb32f94a444993" /><Relationship Type="http://schemas.openxmlformats.org/officeDocument/2006/relationships/presProps" Target="/ppt/presProps.xml" Id="R9d0f2ad330ad49bb" /><Relationship Type="http://schemas.openxmlformats.org/officeDocument/2006/relationships/viewProps" Target="/ppt/viewProps.xml" Id="R5729dca68a1a4215" /><Relationship Type="http://schemas.openxmlformats.org/officeDocument/2006/relationships/tableStyles" Target="/ppt/tableStyles.xml" Id="R96c69ffdd5724ed5" /><Relationship Type="http://schemas.openxmlformats.org/officeDocument/2006/relationships/slide" Target="/ppt/slides/slide1.xml" Id="Re093e9bd5fee47af" /><Relationship Type="http://schemas.openxmlformats.org/officeDocument/2006/relationships/slide" Target="/ppt/slides/slide2.xml" Id="R55da5255ec404be4" /><Relationship Type="http://schemas.openxmlformats.org/officeDocument/2006/relationships/slide" Target="/ppt/slides/slide3.xml" Id="Rd13db4e4b92b4523" /><Relationship Type="http://schemas.openxmlformats.org/officeDocument/2006/relationships/slide" Target="/ppt/slides/slide4.xml" Id="R4c74fcb18cad4db8" /><Relationship Type="http://schemas.openxmlformats.org/officeDocument/2006/relationships/slide" Target="/ppt/slides/slide5.xml" Id="Ra5863427f6c145c6" /><Relationship Type="http://schemas.openxmlformats.org/officeDocument/2006/relationships/slide" Target="/ppt/slides/slide6.xml" Id="R778ff419efb04d36" /><Relationship Type="http://schemas.openxmlformats.org/officeDocument/2006/relationships/slide" Target="/ppt/slides/slide7.xml" Id="R2fddcc55cc9e4a76" /><Relationship Type="http://schemas.openxmlformats.org/officeDocument/2006/relationships/slide" Target="/ppt/slides/slide8.xml" Id="Rce4234eb8acf4328" /><Relationship Type="http://schemas.openxmlformats.org/officeDocument/2006/relationships/slide" Target="/ppt/slides/slide9.xml" Id="R79c10f006f98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d0672c5ca647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3c66987b54830" /><Relationship Type="http://schemas.openxmlformats.org/officeDocument/2006/relationships/notesMaster" Target="/ppt/notesMasters/notesMaster1.xml" Id="Rbcd0bc90c273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97db759304c41" /><Relationship Type="http://schemas.openxmlformats.org/officeDocument/2006/relationships/notesMaster" Target="/ppt/notesMasters/notesMaster1.xml" Id="R491e0b804a1946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98a5dda3543f1" /><Relationship Type="http://schemas.openxmlformats.org/officeDocument/2006/relationships/notesMaster" Target="/ppt/notesMasters/notesMaster1.xml" Id="Rc20c1f8054fa47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18a19dd9c4279" /><Relationship Type="http://schemas.openxmlformats.org/officeDocument/2006/relationships/notesMaster" Target="/ppt/notesMasters/notesMaster1.xml" Id="R89af9d0a739945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8adfaa378e444f" /><Relationship Type="http://schemas.openxmlformats.org/officeDocument/2006/relationships/notesMaster" Target="/ppt/notesMasters/notesMaster1.xml" Id="R1661aa77131a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b489edd75d4492" /><Relationship Type="http://schemas.openxmlformats.org/officeDocument/2006/relationships/notesMaster" Target="/ppt/notesMasters/notesMaster1.xml" Id="R6a55bf7c4ddd45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3e5e713fa54853" /><Relationship Type="http://schemas.openxmlformats.org/officeDocument/2006/relationships/notesMaster" Target="/ppt/notesMasters/notesMaster1.xml" Id="R8f89f4d89c9e48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544f6ab53a4308" /><Relationship Type="http://schemas.openxmlformats.org/officeDocument/2006/relationships/notesMaster" Target="/ppt/notesMasters/notesMaster1.xml" Id="R60bb09f8f6cc44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a6a7ad41c14110" /><Relationship Type="http://schemas.openxmlformats.org/officeDocument/2006/relationships/notesMaster" Target="/ppt/notesMasters/notesMaster1.xml" Id="Rf085d111078d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c3322d03141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b466b128594c73" /><Relationship Type="http://schemas.openxmlformats.org/officeDocument/2006/relationships/slideLayout" Target="/ppt/slideLayouts/slideLayout2.xml" Id="R1462594ee2924e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2594ee2924e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1192ce5da4db2" /><Relationship Type="http://schemas.openxmlformats.org/officeDocument/2006/relationships/notesSlide" Target="/ppt/notesSlides/notesSlide1.xml" Id="R66b86d323acb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bf839a8ca04fee" /><Relationship Type="http://schemas.openxmlformats.org/officeDocument/2006/relationships/notesSlide" Target="/ppt/notesSlides/notesSlide2.xml" Id="Ra44ae70cccc849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b8f8640c94237" /><Relationship Type="http://schemas.openxmlformats.org/officeDocument/2006/relationships/notesSlide" Target="/ppt/notesSlides/notesSlide3.xml" Id="R8492334f76fc47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28f924f2c4a8f" /><Relationship Type="http://schemas.openxmlformats.org/officeDocument/2006/relationships/notesSlide" Target="/ppt/notesSlides/notesSlide4.xml" Id="R8ee28799d82341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6bb65470314292" /><Relationship Type="http://schemas.openxmlformats.org/officeDocument/2006/relationships/notesSlide" Target="/ppt/notesSlides/notesSlide5.xml" Id="R0ffc57199943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6f79f5f8694150" /><Relationship Type="http://schemas.openxmlformats.org/officeDocument/2006/relationships/notesSlide" Target="/ppt/notesSlides/notesSlide6.xml" Id="Re7a18b66dc354b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65fa671834961" /><Relationship Type="http://schemas.openxmlformats.org/officeDocument/2006/relationships/notesSlide" Target="/ppt/notesSlides/notesSlide7.xml" Id="Rfc4ddd0c721341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bddf3aa8f4fef" /><Relationship Type="http://schemas.openxmlformats.org/officeDocument/2006/relationships/notesSlide" Target="/ppt/notesSlides/notesSlide8.xml" Id="Re8a8d385aba2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fe49a69dc14102" /><Relationship Type="http://schemas.openxmlformats.org/officeDocument/2006/relationships/notesSlide" Target="/ppt/notesSlides/notesSlide9.xml" Id="R38e35e7e51cb43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E33DD5BB-E14C-4742-86B5-A726B5C7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33B62-906E-44FC-AA1F-087DDF24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5993"/>
            <a:ext cx="25717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188CC-AD7E-4405-B1C2-D2597B1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22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implementation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8DA2C-A8F9-4B8B-9362-2449E38D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03251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111827"/>
                </a:solidFill>
              </a:defRPr>
            </a:pPr>
            <a:r>
              <a:rPr sz="5850" b="1" i="0">
                <a:solidFill>
                  <a:srgbClr val="111827"/>
                </a:solidFill>
              </a:rPr>
              <a:t>Dense-grid GPU narrow phase for surgical collision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3439-BE58-4FE7-B9F4-C821EE7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115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4B5563"/>
                </a:solidFill>
              </a:defRPr>
            </a:pPr>
            <a:r>
              <a:rPr sz="2400" b="0" i="0">
                <a:solidFill>
                  <a:srgbClr val="4B5563"/>
                </a:solidFill>
              </a:rPr>
              <a:t>The current plugin removes object-AABB broad-phase latency, generates primitive tissue/blade pairs on the GPU, deduplicates them, and runs exact triangle contact tests device-side.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06D0A-8945-46BA-9445-C7095DB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DD4BF"/>
                </a:solidFill>
              </a:defRPr>
            </a:pPr>
            <a:r>
              <a:rPr sz="4350" b="1" i="0">
                <a:solidFill>
                  <a:srgbClr val="2DD4BF"/>
                </a:solidFill>
              </a:rPr>
              <a:t>234k tris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C3295-F1FD-495C-8ED8-61A9A3D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largest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6D551-1F2A-43D3-8211-B6FEF534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9F00A-D43C-4528-A9FC-ECBAEA99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BBF24"/>
                </a:solidFill>
              </a:defRPr>
            </a:pPr>
            <a:r>
              <a:rPr sz="4350" b="1" i="0">
                <a:solidFill>
                  <a:srgbClr val="FBBF24"/>
                </a:solidFill>
              </a:rPr>
              <a:t>2.12M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8EFD4-69D9-445E-880C-1CC8E68A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unique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5230E-E8FA-4F2A-8C16-5D4A294C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5C283-3DD2-4744-A760-4430FF6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38BDF8"/>
                </a:solidFill>
              </a:defRPr>
            </a:pPr>
            <a:r>
              <a:rPr sz="4350" b="1" i="0">
                <a:solidFill>
                  <a:srgbClr val="38BDF8"/>
                </a:solidFill>
              </a:rPr>
              <a:t>23.90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DC7E1-D3D4-40B9-B402-B8A8EC9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4F50B-5C55-4702-AA67-193717FD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10AEC-8BE1-46A8-949E-307D9D26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685800"/>
            <a:ext cx="6043613" cy="84963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8EADE-6A23-4F53-9EE5-5C78A342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69545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Current execution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26DDC-C4A5-40BC-AF39-1C1BF028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234696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4263E-FAF1-4062-8042-5E29EE6E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5336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SOFA 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A1FDA-4616-4F31-AFBE-CB8328B8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9146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tissue + blade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B41C8-3C2D-4061-AE8A-E70F2F20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0045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BB9B6-8B86-4E96-BA06-91F4646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34721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6EED1-5116-46B0-AB13-EE38161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53390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 grid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D49DF-15BB-47E3-879E-11FDA77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9149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one cell space, two id lists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15054-EB9A-4900-9D6C-1CB554C5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60070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D3CED-8A7D-4896-AE12-77166FEF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634746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641A0-E767-48D6-83C9-44FFA618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5341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7F94B-EACE-4FAB-97F3-A1B638D3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9151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per unique pair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1B8F5-B898-4F1D-9CD0-FCBE49F2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600950"/>
            <a:ext cx="5391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Detection-only output keeps contacts on device; CPU sees counters and timings.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D06EF-DBD4-44D0-A872-AD32772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72600"/>
            <a:ext cx="1007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SofaGpuCollision | WSL/CUDA surgical simulation path</a:t>
            </a:r>
          </a:p>
        </p:txBody>
      </p:sp>
    </p:spTree>
    <p:extLst>
      <p:ext uri="{BB962C8B-B14F-4D97-AF65-F5344CB8AC3E}">
        <p14:creationId xmlns:p14="http://schemas.microsoft.com/office/powerpoint/2010/main" val="415903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B30094B-1FD3-4D4E-902C-ACD437AE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7E3E1-C945-4C11-9F7A-FEDDDE7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42EDE-0622-4A94-AEFA-19301EE2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82595-4F2D-4DEE-93E7-46CEDDD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Default SOFA frame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3C2F-401E-47AB-9CDD-A2C0540A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982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SOFA normally advances a simulation by traversing the scene graph, solving mechanics, detecting contacts, then applying collision response before the next visual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E1AB4-DA3D-44EE-BFEE-0CF4C834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E9C6C-9232-411E-8E76-8A062D76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1. Scene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C248A-D3F3-43A3-BE49-4C5B9A2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MechanicalObject positions, velocities, topology, mappings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BA34D-8EAA-4337-A02B-21CB3DB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EFE98-C8FE-4047-9C3D-88A17C2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A5F27-F608-47AA-9CE6-16BB982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2. Forces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05121-8846-494C-9304-A46D96C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mass, damping, FEM force fields,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74598-17E5-4A56-9952-9814AC4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1465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FDD2D-5F31-4C82-845D-20F70109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4B29B-C082-4249-AA51-2C9B5EE8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813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3. Integrate + 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67B62-0C93-4D6F-AA93-A81393F5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6230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ODE solver assembles/apply system; linear solver updates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939D9-BDE6-4AEC-BB51-748357F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D770D-D82F-42BB-87F1-A56E7FA9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4. Collision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8832B-509D-4DFF-8349-680711A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broad phase -&gt; narrow phase -&gt; contact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F3920-D66C-4682-891A-BD5FC72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819B6-06D8-4128-B47E-63573BB9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82E2F-0673-40ED-8804-264071E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5. Collision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2BF3C-5176-4963-843A-A9BF3E8C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contact manager builds response constraints or penalty forces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3765D-A53D-45B5-A09E-6C32577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149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0037C-7470-4943-968A-466C863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8AC88-6D5E-44F7-B84B-6CC41C27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7815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6. Update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E88F5-A6E3-4F7D-AA92-D7FF755E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6255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mapped collision/render geometry, logging, visualization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83256A-851A-486C-9A70-3E9533B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81D2F-0C5D-4365-90B6-ECD2FFAD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Data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5EDAD-4DDB-430C-BA7F-6D732D8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default component path is CPU-friendly: scene graph objects own data, algorithms read/write through SOFA containers, and mappings synchronize derived geometry.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558B9-B9F6-4C52-BC24-B59D028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1E8A38-0829-461B-AD84-EFB6B38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Collision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0209F0-AD4F-4B84-866D-2077204E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Broad phase decides which models may interact; narrow phase tests primitives and emits contacts; response consumes those contacts.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07403-D37F-41EA-8274-3E3F739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931978-DD5F-4F45-9E5E-1416CF1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Response is last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D80615-E92F-48E4-93EF-4C901C0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That matches your architecture: keep detection, metadata, and solve on GPU first; move final collision response after the device pipeline is stable.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80EAF0-4A7B-4B18-B15D-748CA12A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1341054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6D348A4-25AD-4CED-BEA4-48E8443F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A4312-6862-47A5-BEB6-8D2D72A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75C12-3D29-4F9C-9D3E-6D85EE7E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FDD47-91A0-47EF-A9B9-573863E3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the default CPU path limits surgical GPU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17BE3-706D-49CB-B338-61FEAB0D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516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issue is not only raw CPU speed. The larger limitation is ownership: if the CPU owns state, every GPU stage becomes a temporary accelerator instead of the main simulation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6D57C-F1EF-49E1-96EA-24C2D68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7C469-96BD-47C1-9031-EDC910F8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CPU-owned default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6024C-1CBD-4D48-9786-32693ACB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22C9C-ACDC-4D69-A2E2-E4351E1F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Scene graph traversal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B7716-1B49-49C1-B9B1-59A5B57B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component calls and Data access happen frame-by-frame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3F8C9-1E9D-4BF6-875A-1078C96C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61A79-D0A4-4592-9588-D01EF0E5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Mechanical solve on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6163F-0B4B-42D2-802C-1953598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force assembly, constraints, and sparse/direct solves can dominate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C8E59-4F6A-4EC0-A5F8-ADB73ABA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FA4AC-EFA8-4721-A795-3F6E010E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Collision on 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1317E-4037-4CD0-AF38-10681A53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912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broad/narrow/contact generation stay host-side in standard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D47DA-DEF6-4DAA-99B2-F78A459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389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086D1-A0F6-4470-90AE-73168C4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866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Two-object surgery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B5014-97A0-4247-9325-FCA2C602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object AABB broad phase adds little when tissue and blade always interact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1A00F-4497-42CA-9ABC-15F7131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171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38BDF8"/>
                </a:solidFill>
              </a:defRPr>
            </a:pPr>
            <a:r>
              <a:rPr sz="420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23FA5-962C-43D4-8CB3-1E0B55C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4B5563"/>
                </a:solidFill>
              </a:defRPr>
            </a:pPr>
            <a:r>
              <a:rPr sz="2100" b="1" i="0">
                <a:solidFill>
                  <a:srgbClr val="4B5563"/>
                </a:solidFill>
              </a:rPr>
              <a:t>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4A508-FB08-4A44-B4A7-FBAF06A9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4B5563"/>
                </a:solidFill>
              </a:defRPr>
            </a:pPr>
            <a:r>
              <a:rPr sz="2100" b="1" i="0">
                <a:solidFill>
                  <a:srgbClr val="4B5563"/>
                </a:solidFill>
              </a:rPr>
              <a:t>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2369A-FB33-4FDC-AEE6-6E4C153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to GPU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071A8-1DD7-4502-8AD0-F8EC8705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55AB0-1A28-460F-8DCC-E59EEE0A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GPU-resident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6A7CE-32C9-403E-A5D3-982A7B84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7014D-C97D-42C9-9D7E-F14D6D2E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004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Tissue + tool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01DF8-B3F2-48A1-99A6-C7FF340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004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positions, velocities, FEM element data, constraints in VRAM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56EC4-F781-45C2-9B66-7B8BEC60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481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E0FE2-7EAD-4E19-BD5E-F76630BA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95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Dense-grid primitive filtering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B5AA-06FB-48AF-BCEB-BEA4E4D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95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skip redundant object AABB culling; generate tissue/blade pairs on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C6272-AEB4-486F-99D9-B6FF6D9B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435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AC00A-E03B-468A-A891-4FBD42AE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912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contacts +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395D23-DE96-43B2-B0A1-02E33A3C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1912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deduplicated candidate pairs feed device contact buffers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45409-7716-4498-90C7-AA6D9C7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389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BCD58-60D7-413F-906B-C1AEF2F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866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 solve then 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41476-4757-4758-8A55-583FF70C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4866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linear solve and response consume contacts without CPU round-trip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5ACAA2-8270-4173-8E1E-A599846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06740"/>
            <a:ext cx="16840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AD4CA8-B7A7-411A-857E-B21D8FBE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106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Design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6DC40D-157B-4675-9F71-37451E0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8458200"/>
            <a:ext cx="13868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B5563"/>
                </a:solidFill>
              </a:defRPr>
            </a:pPr>
            <a:r>
              <a:rPr sz="2250" b="0" i="0">
                <a:solidFill>
                  <a:srgbClr val="4B5563"/>
                </a:solidFill>
              </a:rPr>
              <a:t>A fast CUDA kernel is not enough. The win comes when geometry, candidates, contacts, solver vectors, and response data stop leaving VRAM each step.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E72FFC-0F10-4488-8C44-0557BF5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7521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759A2F0-B5C1-440C-AAE6-0B2A6BE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4F1E2-8562-48FE-B344-7973C45C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359B4-7F0F-4A47-933D-EC9B177B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BDF08-E960-4714-8561-94CA7C2A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Total execution flow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497C-074F-4FC6-92F1-09C1CCBD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43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Broad phase is no longer doing object AABB rejection for this benchmark path. It is a pair emitter; primitive filtering is inside the GPU dense-grid narrow phase.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256E9-10D5-49E8-86C2-20738902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6BBB0-51C0-4F5C-89A4-AFB56184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 / SOFA orchestration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5D7FA-926B-4A78-AA8D-58FE7672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15064-E881-4900-A32B-7B4C3EA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5F6C7-2E86-489C-A4B2-43D589A4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/ CUDA narrow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4580E-F511-4E5A-A799-ADBD72C2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86FDE-9C22-4A17-BB75-6140A17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CollisionPipeline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C33B6-95F0-45E5-8F71-DEDB040D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calls broad and narrow phases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8E942-7A42-4A36-B34B-60BBD97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316B7-59E0-4BD9-976A-DA60E579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GpuCollisionBroadPhase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A2C3D-3A88-43A1-891C-C905749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useObjectAabbCulling=false; emits tissue/blade 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17586-26D5-4674-A97A-9092ED0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9E005-502D-4324-AEE2-7511DD34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GpuCollisionNarrowPhase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3BD1D-3ED9-42A7-BCD5-44657ED8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436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extracts SOFA triangles and builds host DeviceTriangle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E0871-C833-4C1F-A9E7-784ED23B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675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72C59-A25A-4925-840A-B58BB1B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72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H2D 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456B4-7D7B-4F00-9950-80DFBBBF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724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40 bytes per triangle, every measured step today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C9A8D-E741-4768-80AA-07B4FDC6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1428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38BDF8"/>
                </a:solidFill>
              </a:defRPr>
            </a:pPr>
            <a:r>
              <a:rPr sz="390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295D5-8F17-479C-B733-059A5ED0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578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B5563"/>
                </a:solidFill>
              </a:defRPr>
            </a:pPr>
            <a:r>
              <a:rPr sz="2550" b="1" i="0">
                <a:solidFill>
                  <a:srgbClr val="4B5563"/>
                </a:solidFill>
              </a:rPr>
              <a:t>H2D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78BCC-5EC4-4225-B883-39DA3D43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324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B5563"/>
                </a:solidFill>
              </a:defRPr>
            </a:pPr>
            <a:r>
              <a:rPr sz="1800" b="1" i="0">
                <a:solidFill>
                  <a:srgbClr val="4B5563"/>
                </a:solidFill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132A2-31E0-4BDB-A35C-B447DF0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8961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BBF24"/>
                </a:solidFill>
              </a:defRPr>
            </a:pPr>
            <a:r>
              <a:rPr sz="1725" b="0" i="0">
                <a:solidFill>
                  <a:srgbClr val="FBBF24"/>
                </a:solidFill>
              </a:rPr>
              <a:t>large path:</a:t>
            </a:r>
          </a:p>
          <a:p xmlns:a="http://schemas.openxmlformats.org/drawingml/2006/main">
            <a:pPr>
              <a:defRPr sz="1725" b="0" i="0">
                <a:solidFill>
                  <a:srgbClr val="FBBF24"/>
                </a:solidFill>
              </a:defRPr>
            </a:pPr>
            <a:r>
              <a:rPr sz="1725" b="0" i="0">
                <a:solidFill>
                  <a:srgbClr val="FBBF24"/>
                </a:solidFill>
              </a:rPr>
              <a:t>3.18 MB /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359DF-8143-4F27-85EB-B5F8FC5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441D6-7312-4887-8459-3457FE2F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86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 grid buckets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8E7E7-95C6-4D96-8FB9-7E84972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861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insert tissue ids and blade ids per cell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384D0-18BF-4E2C-A383-853D889C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100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8964A-2814-4EA5-B974-C38D7E60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Candidate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3CD363-92F1-49D4-BD9D-EEC9B5EF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149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per cell cross product: tissueCount * toolCount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65A37-689B-468C-8BBD-4011DC9C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388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987738-316D-4170-A088-F6C25765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9436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Sort + unique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FBF39-D915-49E1-9D13-5AC70E71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436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removes duplicate pairs from multi-cell triangles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37083-7791-48CC-A1F3-FE9D2FA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70675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286118-AC3F-43F1-BC25-88BB6948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72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8BDF5F-1B79-4A45-8FDE-770AF9FF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7724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SAT triangle test; contact buffer stays GPU-side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5D23E-87D7-4D97-900F-DCCE3F6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481893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D579005-372A-4E0A-9728-48EE8C9F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C7D27-B10B-4C0E-A0E0-389057E7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97A46-3287-4FB6-B1D4-5F1C6B89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7527F-7A0E-413B-A0A3-772A958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Dense spatial grid: one grid, two per-cell lists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DF4-576D-4115-8DD2-6EEA297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468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scene is divided once. Each cell stores tissue triangle ids and blade triangle ids separately, then generates candidate pairs from the cross-product inside that cell.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AF092-D945-43C3-B26A-6D3820CF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1. Triangle AABB overlaps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95518-CAC9-440C-9605-AEC7E012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4310"/>
            <a:ext cx="518999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C214F-3B2A-4A2F-BA48-BD0831C3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49CA3-B991-428D-909D-7948B627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DB389-A34D-406B-A7B1-EBE2C64D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E30B7-7153-4E74-97E7-6F78D2CF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D2ECD-EE7D-40F7-AF44-8082117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1F2AB-54F2-405E-A373-859ACA7D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DFC8C-B525-4BE7-B239-245C8682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EF298-F654-4FAF-9E1D-88AF535D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36070-F9A9-484E-84BD-8E79EAB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ECDCE-40C4-46DA-AA4E-446C61C9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259FF-01AE-4316-853D-BB6F1AC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E55D1-ECE1-44AC-8F7B-AB4D6D3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A17CD-C29C-4903-9154-80394C7A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0B192-7F50-44F7-9192-DCC4FE92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45683-DA44-45DA-A7E5-62381EC8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FAD07-C2CF-4255-A1F6-A697999F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E85CA-5877-4AB0-B552-2F88351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8BBA-90A3-4F47-A95D-EC5CAB3D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014D1-85FF-4340-987D-CA020F2C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6C624-0FD9-4789-91DF-DAC3CABE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9F6C2-5B43-466A-8DFC-331EC972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415BB-7CE7-4439-BFA0-3A817BF1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D6BAC-A198-4D60-B84B-0946A50C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6B350-1FBD-4D58-8118-9CDB66FE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F08CB3-A229-4C3D-A308-DB9E4EA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B822E-27AE-409F-92CF-910EAF20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603292-D554-4751-B8F1-C5646A8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2A1D65-C8D0-4455-A9BC-F7A6FB8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D527BA-EC04-4ECB-8626-C15E6FF6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C90BD5-9ACC-4937-AE9E-99E15D9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36073-B695-464C-A595-483FE7EF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BA1225-53FE-43F4-9690-7EAB03CA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A3C808-F1C4-46DC-9BE4-695B029C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B74795-DD5F-4581-808C-C5D055A1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E35707-891E-40A5-85B8-C90A1214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FB46F-A8B4-4DE1-81E6-01F5B78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119C53-54DE-4333-955D-0ED21F4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FEFC5B-E512-4435-9C99-30BC8575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C7FDC0-713D-42B3-9BD2-E996DECF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9889CE-3EE2-4955-83E7-D4507368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A92D3C-4D41-4C13-A133-8AD6A0F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8610"/>
            <a:ext cx="1714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806CC6-EDB1-4D5B-8254-CCD041DE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010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T = tissue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881AEF-BBA1-4674-B675-C9EB8A10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928610"/>
            <a:ext cx="1714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A08F7C-AFFF-414A-9C3B-96F9C95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0010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B = blade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CF7446-1ADF-49B1-A29F-98A0AC36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573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2. A cell owns two id arrays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3CA3F4-9E65-4410-A5E2-D0C9E1D4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845" y="4065270"/>
            <a:ext cx="573631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D792B9-C454-49CE-9EB4-8DBBDE62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12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BDF8"/>
                </a:solidFill>
              </a:defRPr>
            </a:pPr>
            <a:r>
              <a:rPr sz="1800" b="0" i="0">
                <a:solidFill>
                  <a:srgbClr val="38BDF8"/>
                </a:solidFill>
              </a:rPr>
              <a:t>cellId = x + y*nx + z*nx*ny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59C378-8C79-4A9C-9F86-A7677AA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5124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2448DA-5766-4ADA-9BE8-A114C5B4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DD4BF"/>
                </a:solidFill>
              </a:defRPr>
            </a:pPr>
            <a:r>
              <a:rPr sz="2100" b="1" i="0">
                <a:solidFill>
                  <a:srgbClr val="2DD4BF"/>
                </a:solidFill>
              </a:rPr>
              <a:t>cellTissueIds[cellId][0..x-1]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277B75-7D55-424C-9389-F2950F26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7171"/>
                </a:solidFill>
              </a:defRPr>
            </a:pPr>
            <a:r>
              <a:rPr sz="2100" b="1" i="0">
                <a:solidFill>
                  <a:srgbClr val="F87171"/>
                </a:solidFill>
              </a:rPr>
              <a:t>cellToolIds[cellId][0..y-1]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AF00A6-115D-452B-A6C7-77C326A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62650"/>
            <a:ext cx="5124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Counts are filled with atomicAdd during triangle insertion.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D79F91-A4FA-4374-8DEC-9B493867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600950"/>
            <a:ext cx="5734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BBF24"/>
                </a:solidFill>
              </a:defRPr>
            </a:pPr>
            <a:r>
              <a:rPr sz="2250" b="1" i="0">
                <a:solidFill>
                  <a:srgbClr val="FBBF24"/>
                </a:solidFill>
              </a:rPr>
              <a:t>This is not two scene grids. It is one scene grid with two primitive lists per cell.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BB0F12-BABF-4F2C-8470-04680C37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338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3. Candidate pairs are local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7D7B69-423C-47A0-B0BD-88129BF4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105" y="4322445"/>
            <a:ext cx="518999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FA3BA7-D69B-4F89-9916-F150162A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6101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pairsInCell = x *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74D654-58D5-45A2-B2D7-62B816A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905" y="5183505"/>
            <a:ext cx="2204472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325771-7703-4F9C-A59D-335EEC1E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353050"/>
            <a:ext cx="1866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T17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T18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T42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ED1E9B-249B-472E-9256-4875535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828" y="5183505"/>
            <a:ext cx="2204472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D1AA1F-31F9-4FCA-9932-33A3CCEB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353050"/>
            <a:ext cx="1866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B3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B4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8D46E2-4366-4AB6-9FF1-79A9BB82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438900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BBF24"/>
                </a:solidFill>
              </a:defRPr>
            </a:pPr>
            <a:r>
              <a:rPr sz="2175" b="1" i="0">
                <a:solidFill>
                  <a:srgbClr val="FBBF24"/>
                </a:solidFill>
              </a:rPr>
              <a:t>3 tissue ids x 2 blade ids = 6 raw pairs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033C65-AB84-42A7-BACE-51BA557D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99135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Duplicates are removed before exact testing because large triangles may touch multiple cells.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92E6D1-D0E0-4E55-B69A-C051C07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6267258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2662A7E-CACA-4A6F-9CB9-9C6885B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652DE-7DB0-4803-813B-1822AD2B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8606A-8635-4E79-8B6C-E1797D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06C8C-5BF5-4493-BD50-9CBAEF4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CUDA kernels and thread allocation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E7E7C-5431-4E73-AA3E-601133A2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285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current GPU narrow phase is a fixed sequence of reusable kernels plus a Thrust dedup pass before exact contact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7538A-272C-42AD-B008-8D79EBE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302594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C2054-3D06-416D-B862-00D1C3A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06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9A3AA-8930-41E0-BF63-E6CEF04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2057400"/>
            <a:ext cx="2847064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272F9-FB5D-47DD-BABC-E9E163E6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Thread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D718D-8B1F-45E5-8A26-BD64A9B7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2057400"/>
            <a:ext cx="307482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5A146-CE1B-4DCC-B1AF-15AE3556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C6851-F462-480A-817F-16BC3D2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D8690-92AF-4829-B04A-78C48B29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clear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53724-2CF6-4096-91DD-25DC68DA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2590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AB9E0-BB1B-41AF-9D26-84E9CCC8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cell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D2BD-CECF-4B28-A1B3-36A0942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2590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0B054-E17D-4C9A-960F-099AA58E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zero cell counts and counters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DC216-56C7-4415-98CE-FE6D616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56986-ACE1-4313-8C9F-8E1E0C2B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compute AABBs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AC777-EB22-479C-B95B-ADB1984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3162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63B2E-CB1B-4317-A1C6-FB9D6FC1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triangle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57D0C-0DE7-4EA1-BB11-C0FB62E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3162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5C915-1FDE-482B-9B7F-41BFBED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inflated tissue/blade bounds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3E1FB-0F7F-455D-BC9E-37EF890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E7D98-92C4-4365-BC89-4B34A3A5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insert triangles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B5C3E-21C9-4BA4-BCE3-FB4B27A4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3733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0170-75FA-4441-A7C7-9E2A6775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triangle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65B89-E92A-4462-8D19-4A34D57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3733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B9C05-B51D-44C5-91DB-298B040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cell id lists via atomicAdd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BEA9E-4D52-4152-82FC-3918DA01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C1552-713A-4670-98A2-AA034830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generate pairs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1F71AB-89EC-4C2B-AFE9-146BAFC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4305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65C3A4-90E6-48B3-96E8-5A2F3223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block = 1 cell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13848-711A-4DE1-82D9-8291BE2A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4305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06D26-6F98-401B-A164-23A76CB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00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encoded uint64 raw pairs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C8FA88-9FAF-4019-B981-ECA2B33D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207F0D-5B2A-4F42-9C95-AD7DFFB9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thrust::sort + thrust::unique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2FE8A2-7B51-489F-911B-FB9CC007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4876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E8C8B-9451-4AF5-BFEA-352A1F23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72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device-wide parallel primitives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FD7048-80B6-47F7-8C4C-DC998195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4876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80B856-9523-4AD6-BE7D-B9971703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unique candidate pairs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2FEC48-C18A-42C4-BC0C-EBF82901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AA5712-99D2-4570-BF42-55BD6F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exact contact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9508E1-425B-45E9-9F3E-652436C8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5448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CD8E5D-CF47-4894-AE03-34466BE3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unique pair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C9F847-9A9F-422E-A32E-6A2EF1A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5448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1E7DF9-7060-44E1-B86B-8C75ED1E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543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DeviceExactContact buffer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8F7258-DCB3-4EA5-B72E-8FA7EB9F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2057400"/>
            <a:ext cx="6987064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0821D0-6700-4B52-9D8D-AB69AD4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66950"/>
            <a:ext cx="649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8BDF8"/>
                </a:solidFill>
              </a:defRPr>
            </a:pPr>
            <a:r>
              <a:rPr sz="2400" b="1" i="0">
                <a:solidFill>
                  <a:srgbClr val="38BDF8"/>
                </a:solidFill>
              </a:rPr>
              <a:t>Exact contact kernel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E21C3D-5340-424D-8C6A-1C9219DB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743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decode ids; load DeviceTriangle A/B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5D81B9-1594-46CA-BEBA-0870B77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4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run triangle SAT overlap test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8D3473-B60A-42F9-B46D-B060179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505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if hit: atomicAdd(contactCount)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980753-B1FD-4543-BB28-AA567BC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4362450"/>
            <a:ext cx="6987064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BEEA70-B74A-4D38-A0CB-9593EB7D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9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DD4BF"/>
                </a:solidFill>
              </a:defRPr>
            </a:pPr>
            <a:r>
              <a:rPr sz="2400" b="1" i="0">
                <a:solidFill>
                  <a:srgbClr val="2DD4BF"/>
                </a:solidFill>
              </a:rPr>
              <a:t>Why dedup is active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4DD194-81D2-4C50-B283-C2BB0AF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067300"/>
            <a:ext cx="649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A triangle can overlap many cells. Without sort/unique, exact testing repeats pairs.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7CB53C-EB94-4F97-AB01-0933E96E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7215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BBF24"/>
                </a:solidFill>
              </a:defRPr>
            </a:pPr>
            <a:r>
              <a:rPr sz="1800" b="1" i="0">
                <a:solidFill>
                  <a:srgbClr val="FBBF24"/>
                </a:solidFill>
              </a:rPr>
              <a:t>Current benchmark uses deduplicatePairs=true.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5829E7-F8D4-46AB-BFF5-B32AF55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6667500"/>
            <a:ext cx="6987064" cy="2739390"/>
          </a:xfrm>
          <a:prstGeom xmlns:a="http://schemas.openxmlformats.org/drawingml/2006/main" prst="roundRect">
            <a:avLst>
              <a:gd name="adj" fmla="val 7650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3B7270-4EB9-4048-9758-85605B7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486650"/>
            <a:ext cx="645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A78BFA"/>
                </a:solidFill>
              </a:defRPr>
            </a:pPr>
            <a:r>
              <a:rPr sz="2250" b="1" i="0">
                <a:solidFill>
                  <a:srgbClr val="A78BFA"/>
                </a:solidFill>
              </a:rPr>
              <a:t>Main call path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803E18-A3EC-4466-A498-B91700DA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962900"/>
            <a:ext cx="645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GpuCollisionNarrowPhase::endNarrowPhase()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F00E09-639F-4F75-808D-B26A3046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343900"/>
            <a:ext cx="645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-&gt; computeDenseGridTriangleContacts()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59F601-7163-4D06-9931-1BFF72CF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8643693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8C9D959-7C4B-4948-A36B-05C69814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38936-203C-4D1C-AC0C-EAFCCB4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B075-BBBA-40CF-A11B-7B34038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36476-3BBD-4A2F-B46A-922F801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Memory layout and transfer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4DAD4-2DFC-4A22-B367-1835EF8C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630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Device memory is allocated once and reused. The biggest remaining cost is that the current path still repacks and uploads triangle geometry every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CBE1A-19B9-4C7B-BB3E-BCB1DE6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Global VRAM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90878-DD1B-4343-B363-031E5A0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6560"/>
            <a:ext cx="366258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5BB63-8C38-4B1D-88EB-A89A3399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3A1EE-C58F-46CF-A143-064D0388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2956560"/>
            <a:ext cx="44336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36F54-EBEF-425D-8D6A-4B70A6A8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C32F9-790A-4DDB-AF58-388E32A3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9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07F2E-E6A4-4ADF-B93A-43D932AF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DeviceTriangle[]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93913-B1A5-45B3-924A-D8645434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3489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9FC58-6364-4691-9242-6DD182C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tissue and blade triangle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65E83-DA27-4A20-922E-CD15E21F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1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C425E-8CE7-4EF8-8728-7A6A586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DeviceAabb[]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DF013-B656-4EDA-BDB1-6AD78D5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4061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DCE23-3033-492A-8FBD-5F34BB61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inflated per-triangle bounds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D48FD-68A5-485C-9A00-FEED3C9B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2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643DA-A6BD-4E76-98C1-037409B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DeviceCellBucket[]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98A52-8884-41FE-BFF5-04A1D378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4632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FA17A-D8C5-4166-8204-02B06D3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24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per-cell tissue/tool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72A55-48F9-49F5-B407-1065752B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4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59EA0-155A-442F-8BF3-3070ACE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cellTissueIds / cellToolIds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D017E-F35E-4FBD-903F-9C7C2181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5204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9B70F-DF06-41AB-A798-B9075AD7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95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flat primitive id lists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4C952-544F-4086-8545-C8C8739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5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EF204-A180-4184-9D5D-BAA7C4BF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uint64 candidatePairs[]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298BA-DA8C-40C5-9416-539E1EA7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5775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00614-5612-471A-91F1-BAFB02A4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867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encoded tissueId/bladeId pairs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19314E-1689-4599-B358-F7814CCE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7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2BD946-6FF0-4D34-AF3F-D4E7064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DeviceExactContact[]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7A520-EB46-4E51-A76D-B67A24C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6347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E91F3F-B4F8-4072-AEA9-601C107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38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GPU contact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2FF395-5863-4EC9-9492-112C4F24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Transfer boundary today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3A487-8A81-43CB-8DF3-C7146F32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4660"/>
            <a:ext cx="8210550" cy="2076450"/>
          </a:xfrm>
          <a:prstGeom xmlns:a="http://schemas.openxmlformats.org/drawingml/2006/main" prst="roundRect">
            <a:avLst>
              <a:gd name="adj" fmla="val 1009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A0F150-1546-49E2-9E94-32034F4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BBF24"/>
                </a:solidFill>
              </a:defRPr>
            </a:pPr>
            <a:r>
              <a:rPr sz="2700" b="1" i="0">
                <a:solidFill>
                  <a:srgbClr val="FBBF24"/>
                </a:solidFill>
              </a:rPr>
              <a:t>H2D every step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4C2DD0-8C7B-47A0-8907-AFEEB5A5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(tissueTris + bladeTris) * 40 bytes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081A2-E923-4539-B67B-869A51A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Large scene: 3.18 MB per step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6713B-87CA-4607-825B-3385EEB4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99710"/>
            <a:ext cx="821055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DF0FAE-F8E9-4BE3-9B0D-38ED8AB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2DD4BF"/>
                </a:solidFill>
              </a:defRPr>
            </a:pPr>
            <a:r>
              <a:rPr sz="2700" b="1" i="0">
                <a:solidFill>
                  <a:srgbClr val="2DD4BF"/>
                </a:solidFill>
              </a:rPr>
              <a:t>D2H minimized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39C8E2-BB7E-49AD-B440-E89B68BD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7695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11827"/>
                </a:solidFill>
              </a:defRPr>
            </a:pPr>
            <a:r>
              <a:rPr sz="1950" b="0" i="0">
                <a:solidFill>
                  <a:srgbClr val="111827"/>
                </a:solidFill>
              </a:rPr>
              <a:t>Contacts stay device-side; only counters are copied back.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3F016C-1153-44EB-90B3-C1BE0A4A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960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Measured D2H: 16 bytes/step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049D3F-4860-4B1D-BB9C-5D560A2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95210"/>
            <a:ext cx="82105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004D0C-6CB8-43F3-AF84-849C4AC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715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7171"/>
                </a:solidFill>
              </a:defRPr>
            </a:pPr>
            <a:r>
              <a:rPr sz="2550" b="1" i="0">
                <a:solidFill>
                  <a:srgbClr val="F87171"/>
                </a:solidFill>
              </a:rPr>
              <a:t>Implication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A028E7-034F-48E6-B9FE-3FE76BC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229600"/>
            <a:ext cx="7639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GPU compute is not the full story. Extraction, packing, H2D upload, syncs, and SOFA traversal still sit in wall time.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19B622-05EE-4F00-B760-1443DCD9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2497088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B0BD3BE-6BE3-4C19-BDF8-4322A70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3DD33-8E47-407A-A83F-E3034F02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C9C14-2927-4CC1-835F-1679C550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FA42A-8BB0-4297-8807-8850059F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Benchmark scaling: wall time vs GPU 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798B-4BD3-417F-8CFA-5C950AC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601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GPU kernels scale into the CPU range at the largest scene, but total GPU wall time remains dominated by transfer and orchestration overhead.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D485E-FDEC-4270-BDE6-755A52EE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9238488" cy="7052310"/>
          </a:xfrm>
          <a:prstGeom xmlns:a="http://schemas.openxmlformats.org/drawingml/2006/main" prst="roundRect">
            <a:avLst>
              <a:gd name="adj" fmla="val 2971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A906E-F998-4395-AE59-115D132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3180"/>
            <a:ext cx="14859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B40DF-86E8-47F9-A440-10E1490A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 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CB000-DEDD-43FB-B1D7-B357B0EA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83180"/>
            <a:ext cx="2000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B415C-523E-4C54-A4F5-B13C3509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670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FECFB-8A77-4E3E-A8F3-29AE7E8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83180"/>
            <a:ext cx="15049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C3E99-4651-4F7B-97B7-2901AB5D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116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wall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2BAE3-2EFD-41C9-8815-1E6B77FE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15F03-A451-477C-B4B7-280EDE76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4E3C6-ED7F-4C9E-B3EB-B1408D6F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38k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234ED-5AB4-4F67-97A2-2F44A430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56D15-43C2-4C02-BA01-97FEE25F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266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040EC-F84B-48B4-AF83-4915A6D7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3657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40FF9-7FC4-465C-984C-19E340E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4.96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5529-45EA-4623-A470-2682573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004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D93A0-A93F-47DA-BCF3-F18B1BB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190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AA7DC-1DBE-4272-BC4C-20643FE1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3810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00D91-9FB6-43CE-8205-573A9AC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3.38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369CC-00EF-4130-859F-2C79A8AC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433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2CB2C-1E7F-423E-8CFD-CE760F7B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AE427-33F3-40FE-97E5-5BED70B8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3505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9524A-410E-4A30-89E8-21D85754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8.22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7691A-E198-4B19-A35A-53E09B20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3C561-1395-4EA7-83DE-5277487B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large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B1EE6-3000-4D0C-B702-8A3C4B78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80k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61100-565D-4C01-83DC-B5B3E92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36426-D776-4961-B82C-4EBC0A21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01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DC9AAC-ECEB-431C-BC0F-4B11DB9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48200"/>
            <a:ext cx="3505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9B39D-BEE0-449C-A442-D59E50BE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8.05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7DEF25-BA53-4221-A368-E61ED093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04FF73-E633-41F2-ACA1-78D73E17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228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BD254F-3731-4554-BFAA-BA72B56A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733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196E5D-0406-487C-926E-D387AE6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4.00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4F2F6C-3E1A-4594-86D8-6017C07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578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F82CC8-343A-40BA-83E8-98D5ABF7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95900"/>
            <a:ext cx="647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4AB3D3-55F3-4DEE-923E-D305597C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3276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FBC1A2-1E2F-44AE-8CCB-CECA7F1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11.76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881029-BA34-4C9E-8384-BF8D5B92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3405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2CAA59-9785-4A83-BECF-26EFD3F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388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xlarge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8FED03-D089-4227-8FD8-F5214A92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008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146k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A67E6A-C881-41AC-A21E-03B3DD25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864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AABCAD-CA88-4E51-B2BC-0DDF2D38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43600"/>
            <a:ext cx="571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886BA0-C657-4614-836E-3906AC1E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3600"/>
            <a:ext cx="3352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028EAF-B441-47E0-9AEF-A64717F5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864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10.59 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1F09B0-EE49-4B4A-B135-879E7753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293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8DD44C-02E1-4A68-A345-06773D89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86500"/>
            <a:ext cx="609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40B383-CD06-43D0-888B-A7F87736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48400"/>
            <a:ext cx="3352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CB3BFA-F18E-457A-AD51-24F80D00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293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10.67 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39471-DD9F-44A6-81C2-1A971E8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5722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38882A-7AF2-4862-8AB9-8EB02E74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29400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98300-4413-4018-A80E-EBBC126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629400"/>
            <a:ext cx="1600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A22788-9CBB-447A-8B70-49C7708E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722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42.43 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4ED74A-29A4-457D-8BB6-908E9BC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4850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7CCB47-9934-40E7-B295-40783B23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533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xxlarge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FEF66F-92E0-431A-9CB0-98DB555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715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234k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F21E00-A0F6-4A4C-8D1B-C65F755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2009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6FDA01-36F7-4F90-A079-FC7B5F1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39000"/>
            <a:ext cx="1371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1ED207-069F-4AC5-AF1F-1BDE9981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239000"/>
            <a:ext cx="2590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88A60B-140C-4474-8AD5-4DDACF9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009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24.75 ms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8D56FA-5B48-4DBC-96CC-7A46FE99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5438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C1EB91-A8D9-471F-A793-8F557DD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20000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823D1B-6565-4FCC-B250-EFE21152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20000"/>
            <a:ext cx="266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91D077-757D-454D-A9D2-C57BCBE6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5438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23.90 ms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DB888F-91D0-4F08-BF30-ACDF2E05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8867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67CB57-47D2-4392-B744-F716BDF2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924800"/>
            <a:ext cx="3810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8EF368-2895-44FE-993F-D5B9BCFF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924800"/>
            <a:ext cx="1143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A4EE0FC-076B-4B00-8706-7CCD3C6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8867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71.25 ms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707E6A-C488-456B-93B4-BF48AD9A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6295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Bar length is normalized to the slowest measured GPU wall time: 71.25 ms.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476403-82E5-43AA-A73C-2B4B4864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354580"/>
            <a:ext cx="145598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7C849F-05EB-47AC-9D72-C333C4A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3840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Case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9A7B49-6D13-471D-B9F4-8F26D519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2354580"/>
            <a:ext cx="145598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AB5994-9C2E-48C3-900B-104D9B7A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43840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Tris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BB9253-D657-41EF-8602-0DCF92E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2354580"/>
            <a:ext cx="1779533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2C2EE2-0A26-4465-BFB6-177BC300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CPU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F4E6CD-9BBF-4990-A412-1A116A80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2354580"/>
            <a:ext cx="2224416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23DC45-6F7F-41C5-B812-3C676AB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4384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833BE82-0C32-4F67-BDD1-2B08EF1C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887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586F65-309E-4F5F-B3E2-BEE79465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medium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14E90B-09CB-4294-AC8D-CD97536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2887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A27D1D0-E6DA-4F5E-ACC0-AEAC6DE1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9908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38k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EEBDE96-5801-44CC-9FB0-0327A30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28879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2F42C4-A979-43A4-8497-2C386AE4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9908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4.96 ms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5CA441-B0AB-4577-9FE6-C4AE81F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28879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88DC474-D145-4985-9AE5-784DBF0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990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3.38 ms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652D21-5FCD-49D2-8DB0-CC7B86B3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3459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C2E9DB4-110B-4800-9967-63A53A9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623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large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AD78010-F606-4D69-B006-069F23A2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3459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41C84B-8261-4464-BD6E-6A547A2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5623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80k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A95412C-8663-47DD-881E-3BA2D88A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34594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A945C71-8431-451D-B831-5BFB338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623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8.05 ms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204B47A-1369-4B0F-8D6A-0625B60D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34594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589BD23-721A-4D4B-9039-8C94542F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35623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4.00 ms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C78529-6B77-4B51-BFCA-9C2344EF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030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7CC87A-8ABE-4D4C-9236-D823CDBA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338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xlarge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FBA1CE-BD1E-4098-992E-A876702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4030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9C78A7-C4A6-4ABE-BA07-680FAFA6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1338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146k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5173A54-6F2D-42A4-8E1A-7CF02855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40309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F669C9-D557-4299-B793-60F32799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1338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10.59 ms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9521D2-1740-460E-B0BE-F602307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40309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A01D34-0FCD-44D3-B524-06C210DE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4133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10.67 ms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AF5277-DBAB-4594-896A-517E208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602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358C40-5FB5-4720-9816-25A1D60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053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xxlarge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9808B2F-F56B-4CC5-8445-1D42247E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4602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E6F09B-95F6-44BA-90E1-F89D25D3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7053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234k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8C255C2-045C-4B4C-BEFC-054DD1F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46024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9971A0-D925-45DB-976D-5AC3A1E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7053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24.75 ms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CF84E76-C72A-4BFD-9DED-D07185E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46024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83B60C9-BC23-4146-BDCA-83D7885C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47053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23.90 ms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119A475-F7AC-4AC5-A330-D39EFE84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269230"/>
            <a:ext cx="7258812" cy="4137660"/>
          </a:xfrm>
          <a:prstGeom xmlns:a="http://schemas.openxmlformats.org/drawingml/2006/main" prst="roundRect">
            <a:avLst>
              <a:gd name="adj" fmla="val 5064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BB9C55-196D-46BE-969E-D442F3F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672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4B5563"/>
                </a:solidFill>
              </a:defRPr>
            </a:pPr>
            <a:r>
              <a:rPr sz="2325" b="0" i="0">
                <a:solidFill>
                  <a:srgbClr val="4B5563"/>
                </a:solidFill>
              </a:rPr>
              <a:t>Largest scene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FADCCDA-4116-4DEB-89FB-502830A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6724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DD4BF"/>
                </a:solidFill>
              </a:defRPr>
            </a:pPr>
            <a:r>
              <a:rPr sz="4350" b="1" i="0">
                <a:solidFill>
                  <a:srgbClr val="2DD4BF"/>
                </a:solidFill>
              </a:rPr>
              <a:t>234k tris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D153E20-2991-410C-B973-001E87AD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3342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BBF24"/>
                </a:solidFill>
              </a:defRPr>
            </a:pPr>
            <a:r>
              <a:rPr sz="2250" b="1" i="0">
                <a:solidFill>
                  <a:srgbClr val="FBBF24"/>
                </a:solidFill>
              </a:rPr>
              <a:t>CPU wall: 24.75 ms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EA242A5-695C-4065-BB41-123AF16B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295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38BDF8"/>
                </a:solidFill>
              </a:defRPr>
            </a:pPr>
            <a:r>
              <a:rPr sz="2250" b="1" i="0">
                <a:solidFill>
                  <a:srgbClr val="38BDF8"/>
                </a:solidFill>
              </a:rPr>
              <a:t>GPU compute: 23.90 ms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B46212-C16F-4ECF-A561-0851A784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3248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7171"/>
                </a:solidFill>
              </a:defRPr>
            </a:pPr>
            <a:r>
              <a:rPr sz="2250" b="1" i="0">
                <a:solidFill>
                  <a:srgbClr val="F87171"/>
                </a:solidFill>
              </a:rPr>
              <a:t>GPU wall: 71.25 ms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DA84A99-10A0-4403-84E9-02E6F3F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716103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69B273D-78F1-4365-BA30-6CA66D20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64B60-0BDF-40C3-9F83-DB78E1A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7B530-B687-4B39-BF29-FF0436E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1417B-851A-4151-BC3E-BC84B1D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CPU still wins in full wall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5E265-FE6C-420F-80F9-FA7A7E72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23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implementation is doing the right GPU-side work. The benchmark exposes what remains outside the GPU-resident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E842E-7245-4301-8DCB-B3420C5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79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GPU wall minus 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45B67-CB9A-4074-8B6E-D7DB32F7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8430"/>
            <a:ext cx="7800023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A63A4-C6BB-4E66-9337-458E79AB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319B4-A2B3-4688-977D-92D71EC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193AB-7414-4CBE-8082-139F256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24200"/>
            <a:ext cx="3886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2DBF4-6366-4EFF-8509-49D5786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4.84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D3AEB-624F-46EF-AA77-B765245F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large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60674-4429-41FC-A74C-36F3C7A8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723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7F083-97B6-446F-8266-D1345F99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3657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543A1-0E92-4483-9386-1FBA0CEB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7.76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3D118-1417-4AEC-BE02-37047D7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xlarge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4954A-0FC4-4680-9673-290FF626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43400"/>
            <a:ext cx="2895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46AE8-A133-4C8B-8F8E-B501CA2E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1447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9F92B-1C9D-4EDD-B85B-675FD83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31.76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29498-927D-4F48-8F11-07D35BBF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xxlarge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4E6F9-9259-4BA3-AFC9-DAE65559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4191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B384C-4883-4B03-9685-A005124D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114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711E5-C04F-41E6-A981-D483D40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47.35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4644C-AF68-4734-8866-4635908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7791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This gap includes extraction, packing, H2D transfer, synchronization, SOFA traversal, and batch overhead.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7BF12-D121-467E-97F9-27EF85E4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2057400"/>
            <a:ext cx="8621078" cy="2152650"/>
          </a:xfrm>
          <a:prstGeom xmlns:a="http://schemas.openxmlformats.org/drawingml/2006/main" prst="roundRect">
            <a:avLst>
              <a:gd name="adj" fmla="val 9735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AECC3-DEB2-4B14-8806-213F7221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805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D4BF"/>
                </a:solidFill>
              </a:defRPr>
            </a:pPr>
            <a:r>
              <a:rPr sz="2550" b="1" i="0">
                <a:solidFill>
                  <a:srgbClr val="2DD4BF"/>
                </a:solidFill>
              </a:rPr>
              <a:t>What is already good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441A7-07F3-4820-A8D1-5F63BE96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8058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11827"/>
                </a:solidFill>
              </a:defRPr>
            </a:pPr>
            <a:r>
              <a:rPr sz="1950" b="0" i="0">
                <a:solidFill>
                  <a:srgbClr val="111827"/>
                </a:solidFill>
              </a:rPr>
              <a:t>Object broad phase removed. Grid filtering, dedup, exact contacts, and contact residency are active.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344A3-A982-4352-9216-0122ADB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No overflows; 2.12M unique pairs at xxlarge.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82690-46C8-4A34-B67B-68E28E34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4419600"/>
            <a:ext cx="8621078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EACA4-8BF6-47A7-8DF6-F74D7A6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805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BBF24"/>
                </a:solidFill>
              </a:defRPr>
            </a:pPr>
            <a:r>
              <a:rPr sz="2550" b="1" i="0">
                <a:solidFill>
                  <a:srgbClr val="FBBF24"/>
                </a:solidFill>
              </a:rPr>
              <a:t>What blocks speedup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EFF33-D51A-431E-98BE-01E1C1D2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625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1. Per-step triangle upload scales with geometry.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CA623-0934-4B6E-9AD6-E424C1F9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816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2. Dense grid launches over many empty cells.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D60591-E97E-4A23-8F36-E097A3A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007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3. Sort/unique grows with duplicate candidates.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BB5E2-D778-4710-BC1C-699569E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198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4. GTX 1650 Ti launch/sync overhead is visible.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A857D9-500A-463E-A2EE-4749EAB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7353300"/>
            <a:ext cx="8621078" cy="179070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1F075E-F16E-4E72-A956-B3F92672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715250"/>
            <a:ext cx="805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8BDF8"/>
                </a:solidFill>
              </a:defRPr>
            </a:pPr>
            <a:r>
              <a:rPr sz="2400" b="1" i="0">
                <a:solidFill>
                  <a:srgbClr val="38BDF8"/>
                </a:solidFill>
              </a:rPr>
              <a:t>Next implementation step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48F8C8-71FE-4215-A283-A91A2AD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210550"/>
            <a:ext cx="805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Keep geometry resident, build active-cell lists, use CUB compaction, then connect GPU response so contacts never return to CPU.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D5D163-9E52-470B-90DB-C53E639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454290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2026-05-08T01:51:57.4850000Z</dcterms:created>
  <dcterms:modified xsi:type="dcterms:W3CDTF">2026-05-08T01:51:57.4850000Z</dcterms:modified>
</coreProperties>
</file>