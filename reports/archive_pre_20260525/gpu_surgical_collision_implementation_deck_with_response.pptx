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04f3e6ba9b48bf" /><Relationship Type="http://schemas.openxmlformats.org/officeDocument/2006/relationships/extended-properties" Target="/docProps/app.xml" Id="Red0fd4d5be2445fd" /><Relationship Type="http://schemas.openxmlformats.org/officeDocument/2006/relationships/officeDocument" Target="/ppt/presentation.xml" Id="R2e0bcabc9e1e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fa000124484a73"/>
  </p:sldMasterIdLst>
  <p:notesMasterIdLst>
    <p:notesMasterId xmlns:r="http://schemas.openxmlformats.org/officeDocument/2006/relationships" r:id="Rb8a7df1e9a434659"/>
  </p:notesMasterIdLst>
  <p:sldIdLst>
    <p:sldId xmlns:r="http://schemas.openxmlformats.org/officeDocument/2006/relationships" id="256" r:id="R104a725bcbe2487a"/>
    <p:sldId xmlns:r="http://schemas.openxmlformats.org/officeDocument/2006/relationships" id="257" r:id="R4c84005cefb54236"/>
    <p:sldId xmlns:r="http://schemas.openxmlformats.org/officeDocument/2006/relationships" id="258" r:id="Rfb76ffd5077344de"/>
    <p:sldId xmlns:r="http://schemas.openxmlformats.org/officeDocument/2006/relationships" id="259" r:id="Rf16aed9d09ae4e29"/>
    <p:sldId xmlns:r="http://schemas.openxmlformats.org/officeDocument/2006/relationships" id="260" r:id="R3963ea83dedb4a2e"/>
    <p:sldId xmlns:r="http://schemas.openxmlformats.org/officeDocument/2006/relationships" id="261" r:id="R363b716a5f544731"/>
    <p:sldId xmlns:r="http://schemas.openxmlformats.org/officeDocument/2006/relationships" id="262" r:id="R63dcdd213ef7470d"/>
    <p:sldId xmlns:r="http://schemas.openxmlformats.org/officeDocument/2006/relationships" id="263" r:id="Ra3699d81b8d84372"/>
    <p:sldId xmlns:r="http://schemas.openxmlformats.org/officeDocument/2006/relationships" id="264" r:id="Re5dcd582419349b2"/>
    <p:sldId xmlns:r="http://schemas.openxmlformats.org/officeDocument/2006/relationships" id="265" r:id="Ra791cfd4ebff45fa"/>
    <p:sldId xmlns:r="http://schemas.openxmlformats.org/officeDocument/2006/relationships" id="266" r:id="R113694e584b9446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a000124484a73" /><Relationship Type="http://schemas.openxmlformats.org/officeDocument/2006/relationships/theme" Target="/ppt/theme/theme1.xml" Id="R7d342d694c1b43b1" /><Relationship Type="http://schemas.openxmlformats.org/officeDocument/2006/relationships/notesMaster" Target="/ppt/notesMasters/notesMaster1.xml" Id="Rb8a7df1e9a434659" /><Relationship Type="http://schemas.openxmlformats.org/officeDocument/2006/relationships/presProps" Target="/ppt/presProps.xml" Id="R8396ddd109eb4236" /><Relationship Type="http://schemas.openxmlformats.org/officeDocument/2006/relationships/viewProps" Target="/ppt/viewProps.xml" Id="Rfacc6694273b43ce" /><Relationship Type="http://schemas.openxmlformats.org/officeDocument/2006/relationships/tableStyles" Target="/ppt/tableStyles.xml" Id="Rf8b15af693fe45ae" /><Relationship Type="http://schemas.openxmlformats.org/officeDocument/2006/relationships/slide" Target="/ppt/slides/slide1.xml" Id="R104a725bcbe2487a" /><Relationship Type="http://schemas.openxmlformats.org/officeDocument/2006/relationships/slide" Target="/ppt/slides/slide2.xml" Id="R4c84005cefb54236" /><Relationship Type="http://schemas.openxmlformats.org/officeDocument/2006/relationships/slide" Target="/ppt/slides/slide3.xml" Id="Rfb76ffd5077344de" /><Relationship Type="http://schemas.openxmlformats.org/officeDocument/2006/relationships/slide" Target="/ppt/slides/slide4.xml" Id="Rf16aed9d09ae4e29" /><Relationship Type="http://schemas.openxmlformats.org/officeDocument/2006/relationships/slide" Target="/ppt/slides/slide5.xml" Id="R3963ea83dedb4a2e" /><Relationship Type="http://schemas.openxmlformats.org/officeDocument/2006/relationships/slide" Target="/ppt/slides/slide6.xml" Id="R363b716a5f544731" /><Relationship Type="http://schemas.openxmlformats.org/officeDocument/2006/relationships/slide" Target="/ppt/slides/slide7.xml" Id="R63dcdd213ef7470d" /><Relationship Type="http://schemas.openxmlformats.org/officeDocument/2006/relationships/slide" Target="/ppt/slides/slide8.xml" Id="Ra3699d81b8d84372" /><Relationship Type="http://schemas.openxmlformats.org/officeDocument/2006/relationships/slide" Target="/ppt/slides/slide9.xml" Id="Re5dcd582419349b2" /><Relationship Type="http://schemas.openxmlformats.org/officeDocument/2006/relationships/slide" Target="/ppt/slides/slide10.xml" Id="Ra791cfd4ebff45fa" /><Relationship Type="http://schemas.openxmlformats.org/officeDocument/2006/relationships/slide" Target="/ppt/slides/slide11.xml" Id="R113694e584b944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82ed8db34c1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dffcfbb1c245c7" /><Relationship Type="http://schemas.openxmlformats.org/officeDocument/2006/relationships/notesMaster" Target="/ppt/notesMasters/notesMaster1.xml" Id="Ra958d815e5ff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d13aefdc7c4b5a" /><Relationship Type="http://schemas.openxmlformats.org/officeDocument/2006/relationships/notesMaster" Target="/ppt/notesMasters/notesMaster1.xml" Id="R619e8bc8e2ae46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86597f9c224d4a" /><Relationship Type="http://schemas.openxmlformats.org/officeDocument/2006/relationships/notesMaster" Target="/ppt/notesMasters/notesMaster1.xml" Id="R7a14a25f378b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c004167b8b448d" /><Relationship Type="http://schemas.openxmlformats.org/officeDocument/2006/relationships/notesMaster" Target="/ppt/notesMasters/notesMaster1.xml" Id="R46d0250345c04e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5d7ee90ef04365" /><Relationship Type="http://schemas.openxmlformats.org/officeDocument/2006/relationships/notesMaster" Target="/ppt/notesMasters/notesMaster1.xml" Id="R1342b51217fb4c2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e17ec6ba504560" /><Relationship Type="http://schemas.openxmlformats.org/officeDocument/2006/relationships/notesMaster" Target="/ppt/notesMasters/notesMaster1.xml" Id="R1ed9176a16d04f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5c36b531ec4e74" /><Relationship Type="http://schemas.openxmlformats.org/officeDocument/2006/relationships/notesMaster" Target="/ppt/notesMasters/notesMaster1.xml" Id="R8f664ec27b9e42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3bfa126a54b93" /><Relationship Type="http://schemas.openxmlformats.org/officeDocument/2006/relationships/notesMaster" Target="/ppt/notesMasters/notesMaster1.xml" Id="R320980d94c1547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5ecc69d04f4e08" /><Relationship Type="http://schemas.openxmlformats.org/officeDocument/2006/relationships/notesMaster" Target="/ppt/notesMasters/notesMaster1.xml" Id="Rb80f8459b84344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4ac24e328744e9" /><Relationship Type="http://schemas.openxmlformats.org/officeDocument/2006/relationships/notesMaster" Target="/ppt/notesMasters/notesMaster1.xml" Id="R27688bf070ef40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6d70d0c4274d78" /><Relationship Type="http://schemas.openxmlformats.org/officeDocument/2006/relationships/notesMaster" Target="/ppt/notesMasters/notesMaster1.xml" Id="R0b0afd55442f4a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f169b3828b419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22de74653aa40f7" /><Relationship Type="http://schemas.openxmlformats.org/officeDocument/2006/relationships/slideLayout" Target="/ppt/slideLayouts/slideLayout2.xml" Id="R959cf44a7a6f4f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9cf44a7a6f4f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ba7c8df2fa4b83" /><Relationship Type="http://schemas.openxmlformats.org/officeDocument/2006/relationships/notesSlide" Target="/ppt/notesSlides/notesSlide1.xml" Id="Rac2a3b64ec2f4c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06c1e124974ff5" /><Relationship Type="http://schemas.openxmlformats.org/officeDocument/2006/relationships/notesSlide" Target="/ppt/notesSlides/notesSlide2.xml" Id="Ra889105e44d943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ab992760c4ac7" /><Relationship Type="http://schemas.openxmlformats.org/officeDocument/2006/relationships/notesSlide" Target="/ppt/notesSlides/notesSlide3.xml" Id="R7008d9273475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2e6497a6047fa" /><Relationship Type="http://schemas.openxmlformats.org/officeDocument/2006/relationships/notesSlide" Target="/ppt/notesSlides/notesSlide4.xml" Id="R09894f72106942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0a331022494a95" /><Relationship Type="http://schemas.openxmlformats.org/officeDocument/2006/relationships/notesSlide" Target="/ppt/notesSlides/notesSlide5.xml" Id="R4d094ef1e5304f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148c6a6763414e" /><Relationship Type="http://schemas.openxmlformats.org/officeDocument/2006/relationships/notesSlide" Target="/ppt/notesSlides/notesSlide6.xml" Id="R9d39def7e8c540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6dc8ce0fb4220" /><Relationship Type="http://schemas.openxmlformats.org/officeDocument/2006/relationships/notesSlide" Target="/ppt/notesSlides/notesSlide7.xml" Id="Re68c94d0008e40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437dab0f824b24" /><Relationship Type="http://schemas.openxmlformats.org/officeDocument/2006/relationships/notesSlide" Target="/ppt/notesSlides/notesSlide8.xml" Id="Rde03ebffe53545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ca76bbc6e4f0e" /><Relationship Type="http://schemas.openxmlformats.org/officeDocument/2006/relationships/notesSlide" Target="/ppt/notesSlides/notesSlide9.xml" Id="Rbcf48bceb8844d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50364cd8a54274" /><Relationship Type="http://schemas.openxmlformats.org/officeDocument/2006/relationships/notesSlide" Target="/ppt/notesSlides/notesSlide10.xml" Id="R80ae8c64d19047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4dc667527740c1" /><Relationship Type="http://schemas.openxmlformats.org/officeDocument/2006/relationships/notesSlide" Target="/ppt/notesSlides/notesSlide11.xml" Id="R58c31d1c05cc43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bg">
            <a:extLst xmlns:a="http://schemas.openxmlformats.org/drawingml/2006/main">
              <a:ext uri="{FF2B5EF4-FFF2-40B4-BE49-F238E27FC236}">
                <a16:creationId xmlns:a16="http://schemas.microsoft.com/office/drawing/2014/main" id="{C0316FEA-62A9-48FD-A23D-8108B229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0CEBA-5E32-4EA3-9DFC-4AED3715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5993"/>
            <a:ext cx="25717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D7C66-71A8-41F6-B132-991A99C0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2228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implementation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48F14-24D2-4D59-A7AA-1DF5D46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103251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111827"/>
                </a:solidFill>
              </a:defRPr>
            </a:pPr>
            <a:r>
              <a:rPr sz="5850" b="1" i="0">
                <a:solidFill>
                  <a:srgbClr val="111827"/>
                </a:solidFill>
              </a:rPr>
              <a:t>Dense-grid GPU narrow phase for surgical collision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F6E68-D727-4B9B-85B8-CC88DFB9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01155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 i="0">
                <a:solidFill>
                  <a:srgbClr val="4B5563"/>
                </a:solidFill>
              </a:defRPr>
            </a:pPr>
            <a:r>
              <a:rPr sz="2400" b="0" i="0">
                <a:solidFill>
                  <a:srgbClr val="4B5563"/>
                </a:solidFill>
              </a:rPr>
              <a:t>The current plugin removes object-AABB broad-phase latency, generates primitive tissue/blade pairs on the GPU, deduplicates them, and runs exact triangle contact tests device-side.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4D352-705A-44A6-B33F-7DE7E5D4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DD4BF"/>
                </a:solidFill>
              </a:defRPr>
            </a:pPr>
            <a:r>
              <a:rPr sz="4350" b="1" i="0">
                <a:solidFill>
                  <a:srgbClr val="2DD4BF"/>
                </a:solidFill>
              </a:rPr>
              <a:t>234k tris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87BE7-A862-4E94-9C6C-0A4F7F04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largest 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EE4F-7685-4F72-B1D6-136C2644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6A0E2-12F8-40B1-BFC0-2B3CA30A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BBF24"/>
                </a:solidFill>
              </a:defRPr>
            </a:pPr>
            <a:r>
              <a:rPr sz="4350" b="1" i="0">
                <a:solidFill>
                  <a:srgbClr val="FBBF24"/>
                </a:solidFill>
              </a:rPr>
              <a:t>2.12M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785EC-D588-4140-A9A4-D5BB70F5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unique pairs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60B7E-DCC2-40EB-B51D-3414D56A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C345D3-9D81-4DB1-B64B-F3A67B7B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496050"/>
            <a:ext cx="3009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38BDF8"/>
                </a:solidFill>
              </a:defRPr>
            </a:pPr>
            <a:r>
              <a:rPr sz="4350" b="1" i="0">
                <a:solidFill>
                  <a:srgbClr val="38BDF8"/>
                </a:solidFill>
              </a:rPr>
              <a:t>23.90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20682-B51F-4BB5-8BD0-5B7137E4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23900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66A849-AA5D-400D-83E9-631C50B3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6009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38BDF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E56B9-A70C-4563-9D9A-56598EA6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288" y="685800"/>
            <a:ext cx="6043613" cy="84963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012CF4-21C2-4666-A60C-99F8F37B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69545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Current execution shape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77DBD6-5DD1-4D1D-A869-F74B193C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234696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F1967F-054B-4AFF-8470-C07E6595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5336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SOFA pair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2456B-C5AC-4A89-9936-D4DE8E0B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9146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tissue + blade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44D793-82DE-4FFD-B27F-1005871D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60045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5AC10-7227-4314-902B-51162BC5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434721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7DD3F-2C75-4B22-9D29-05177820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53390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 grid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8EF81-51B5-4342-ADDE-B252937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9149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one cell space, two id lists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AEC80-B912-4DFA-9B2E-7E8AC29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600700"/>
            <a:ext cx="5391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A352BE-1C74-4806-80C4-4D879B4A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8138" y="6347460"/>
            <a:ext cx="5395913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99805-43F0-472E-9AE2-47CE99E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534150"/>
            <a:ext cx="4972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8340E-AF65-41C8-AD16-200BB7E8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9151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per unique pair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9D3109-D6A8-441F-B51F-511E1DD2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600950"/>
            <a:ext cx="5391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Detection-only output keeps contacts on device; CPU sees counters and timings.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6B026-014C-4B21-A789-E2F02192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72600"/>
            <a:ext cx="1007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B7280"/>
                </a:solidFill>
              </a:defRPr>
            </a:pPr>
            <a:r>
              <a:rPr sz="1500" b="0" i="0">
                <a:solidFill>
                  <a:srgbClr val="6B7280"/>
                </a:solidFill>
              </a:rPr>
              <a:t>SofaGpuCollision | WSL/CUDA surgical simulation path</a:t>
            </a:r>
          </a:p>
        </p:txBody>
      </p:sp>
    </p:spTree>
    <p:extLst>
      <p:ext uri="{BB962C8B-B14F-4D97-AF65-F5344CB8AC3E}">
        <p14:creationId xmlns:p14="http://schemas.microsoft.com/office/powerpoint/2010/main" val="1483205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439E68B7-5934-4186-B611-5B52ACE3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A227B-C449-4B49-A1BE-DA0B86DB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ED9D4-E165-441A-86ED-92F8CC7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02D31-A192-40B8-A68C-DD85CE5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Default SOFA frame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F0EE32-14E7-4584-8E55-CE682872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982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SOFA normally advances a simulation by traversing the scene graph, solving mechanics, detecting contacts, then applying collision response before the next visual update.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30936-97F1-43D0-9BC1-98B3D803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ED1CD-5863-4AF6-9578-98FBB08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1. Scene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CF9A1-8747-43A0-BCE7-54C25331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MechanicalObject positions, velocities, topology, mappings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DAF46-92BC-4460-9283-BFBDFDE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A030A-F67F-44B8-9A64-254F88EB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87DEF-6E1C-4740-968F-AE9CBA0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2. Forces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C424B-10FD-4968-8BB3-7ED6A5B7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mass, damping, FEM force fields, constraints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E0776-0737-4B70-A108-CDB28351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91465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2DDAC-B0B5-4EB5-BF59-56BB8955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247650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3C3A9-7179-4C28-AC4E-5D59AFC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78130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3. Integrate + solve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38EF7-9274-4938-8D6E-14A8DFAA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16230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ODE solver assembles/apply system; linear solver updates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2B9D0-24B4-4290-B73D-F5344181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CA9480-D2BB-4C5D-A2CB-7F5D28A2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4. Collision detection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6CCB8-CA42-4BF9-A972-EE4470E5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4591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broad phase -&gt; narrow phase -&gt; contact candidates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F4E480-D6F8-4C6A-ABF3-0AFD0762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149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17B0B-A57A-4947-8995-67F87A90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1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77558-EEC8-4E87-AEE6-A6EFE633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815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5. Collision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40B7E-9E1D-461E-A68E-7203C142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6255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contact manager builds response constraints or penalty forces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C2A73-836B-4053-97B3-01D70E15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49149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73E958-1DC3-4805-9898-1EF2710F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0300" y="4476750"/>
            <a:ext cx="50038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A1D9E-F701-47D1-B2AE-D4817DCF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781550"/>
            <a:ext cx="4591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6. Update outputs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B3023A-2B44-493B-BBDF-61AF217C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62550"/>
            <a:ext cx="4591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mapped collision/render geometry, logging, visualization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C6AEB-2A0E-4A90-9C05-7773618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0CF8C3-19F3-41B9-8844-9BEE80AD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Data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26973-9449-4EDA-AC76-CB4739E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default component path is CPU-friendly: scene graph objects own data, algorithms read/write through SOFA containers, and mappings synchronize derived geometry.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84C8D8-55C2-44FA-8864-F49B5107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7A40F8-3D12-475A-8310-4586A57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Collision pipeline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5E925F-7955-4D5A-A60E-2FB8BF0D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Broad phase decides which models may interact; narrow phase tests primitives and emits contacts; response consumes those contacts.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5B0181-1751-42D7-84F5-48055CD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355080"/>
            <a:ext cx="5461000" cy="3051810"/>
          </a:xfrm>
          <a:prstGeom xmlns:a="http://schemas.openxmlformats.org/drawingml/2006/main" prst="roundRect">
            <a:avLst>
              <a:gd name="adj" fmla="val 686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3DE631-3CAD-4CA8-8369-3AE4E1F8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0104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Response is last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E08DC0-F10E-4E32-9C01-352A792C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5247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That matches your architecture: keep detection, metadata, and solve on GPU first; move final collision response after the device pipeline is stable.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225DD5-A06B-48C9-B261-3EE09112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2109985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6741CFF-23B3-4CA0-895E-9660B34A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ED590-0C66-4D95-9FC2-4DE483B5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9ADEA-7841-4499-8F53-735DC291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945D6-3428-4E1F-A2C5-3822B16E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the default CPU path limits surgical GPU simulation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D91B0-D771-4F93-B2C6-38909E0C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5161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issue is not only raw CPU speed. The larger limitation is ownership: if the CPU owns state, every GPU stage becomes a temporary accelerator instead of the main simulation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6B60D-E2D6-4ED1-8638-C6C53F35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62781-2C49-4A13-A4E3-907CA1CF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CPU-owned default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E19BC-EBAF-429F-8BDB-F8A93246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E07FE-C941-461D-9F7F-E2D585DE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Scene graph traversal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6DACE-2B01-444B-B6A7-4D4849D8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component calls and Data access happen frame-by-frame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92F7A-ED15-49F4-918B-AA43996F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24FC6-7EF4-428F-BD34-D331BAD9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Mechanical solve on CPU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EEB9B4-5FB9-476D-8036-6C36FFE2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95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force assembly, constraints, and sparse/direct solves can dominate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50442-3041-43D4-AB63-2ACA0AF2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1D639-6B86-4EA9-98A8-0264B204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912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Collision on CPU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13256-C5F7-4959-9534-FD322487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1912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broad/narrow/contact generation stay host-side in standard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231B37-AD5C-4291-BAE5-858F469A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389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9A8E04-D975-481A-A2F6-BA04F3AF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866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Two-object surgery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1244F-55AB-4C8B-AA4A-609C04D0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object AABB broad phase adds little when tissue and blade always interact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ADC9CF-1319-43A6-9EEB-DA7FED41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171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 i="0">
                <a:solidFill>
                  <a:srgbClr val="38BDF8"/>
                </a:solidFill>
              </a:defRPr>
            </a:pPr>
            <a:r>
              <a:rPr sz="420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8D48C9-BA4F-4B04-AE23-334ABA89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9585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4B5563"/>
                </a:solidFill>
              </a:defRPr>
            </a:pPr>
            <a:r>
              <a:rPr sz="2100" b="1" i="0">
                <a:solidFill>
                  <a:srgbClr val="4B5563"/>
                </a:solidFill>
              </a:rPr>
              <a:t>move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B8F87F-CE5F-47D6-8386-133B4730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721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4B5563"/>
                </a:solidFill>
              </a:defRPr>
            </a:pPr>
            <a:r>
              <a:rPr sz="2100" b="1" i="0">
                <a:solidFill>
                  <a:srgbClr val="4B5563"/>
                </a:solidFill>
              </a:rPr>
              <a:t>ownership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556B6-608C-405A-BCF2-78651310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67400"/>
            <a:ext cx="171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38BDF8"/>
                </a:solidFill>
              </a:defRPr>
            </a:pPr>
            <a:r>
              <a:rPr sz="2550" b="1" i="0">
                <a:solidFill>
                  <a:srgbClr val="38BDF8"/>
                </a:solidFill>
              </a:rPr>
              <a:t>to GPU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C96DB-A596-4B49-A7D1-BDCE5E75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16F80-7A46-467A-BD07-7D35D342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GPU-resident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E94D7F-2F74-46F6-B967-98BE9115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9527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5FDAEC-35C9-45DF-9C78-C0CE2858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2004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Tissue + tool state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E3FA6-1EE1-447D-8356-5F9FE4C8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004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positions, velocities, FEM element data, constraints in VRAM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FCDE55-EAD3-4771-A8CB-B9E99322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481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CC4C79-1DCE-4EED-B312-45390474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4958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Dense-grid primitive filtering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7A9DD-A67A-492D-9FF2-34DEAED8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8958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skip redundant object AABB culling; generate tissue/blade pairs on device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C1245-0E34-43D4-9E2C-D7A39C3C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5435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29A004-48B4-4AF0-8A9D-38B44C24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7912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contacts + metadata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1AF773-5F33-4A34-B890-B820E083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1912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deduplicated candidate pairs feed device contact buffers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6C8FD-FC0B-49A7-9E04-B3562038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838950"/>
            <a:ext cx="73723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B2EF6C-59C1-4481-A958-512C92B5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086600"/>
            <a:ext cx="695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 solve then response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22F51D-30FA-45AC-938E-B228E19C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7486650"/>
            <a:ext cx="6953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linear solve and response consume contacts without CPU round-trip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BE3386-FDD3-434E-AC5F-FB84D9F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06740"/>
            <a:ext cx="168402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FDE887-514B-42C1-A1CA-226D720F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10600"/>
            <a:ext cx="2095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Design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3E21FD-DAF8-42AA-A4E3-AF57C633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8458200"/>
            <a:ext cx="13868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B5563"/>
                </a:solidFill>
              </a:defRPr>
            </a:pPr>
            <a:r>
              <a:rPr sz="2250" b="0" i="0">
                <a:solidFill>
                  <a:srgbClr val="4B5563"/>
                </a:solidFill>
              </a:rPr>
              <a:t>A fast CUDA kernel is not enough. The win comes when geometry, candidates, contacts, solver vectors, and response data stop leaving VRAM each step.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04D0E3-E9D0-4E99-B795-D12C06B6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9318435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5F54C40-CAD2-4CE7-A5F4-A7FF82E7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F8E23-8BAD-4ABC-985C-61904356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5EA28-0BF0-493C-A4B9-AE3BFD2F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800DC-42A3-415D-B036-C907FCBC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Total execution flow 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1FD0F-11EA-4038-B753-3C95B094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439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Broad phase is no longer doing object AABB rejection for this benchmark path. It is a pair emitter; primitive filtering is inside the GPU dense-grid narrow phase.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F1D24-FBB2-4896-8D1F-25993443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33777-FF1A-4FD6-8E10-98A78EF7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 / SOFA orchestration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5BDB-ED27-4210-A105-AFA4CEF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622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9B486-0878-4FFA-81F8-FCC1DD0E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54580"/>
            <a:ext cx="3143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82CD3-2EA0-41B0-BF8A-F0DD7136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38400"/>
            <a:ext cx="2800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/ CUDA narrow phase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11347-D701-44E8-AF68-E998BB3B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925B5-1E28-4F4B-9274-83FA5CEC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CollisionPipeline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2A8BA-C175-4603-8E91-A58F345A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calls broad and narrow phases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E1B2D-0647-48EA-BCAE-0CF1BD87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A0493-2A9A-4094-A212-1AC3528D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GpuCollisionBroadPhase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F1082-7109-43A9-82C7-7A955D94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149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useObjectAabbCulling=false; emits tissue/blade pair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352FB-3AD5-46C3-BE6C-89260C69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388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F8FD92-6016-42C8-BF08-160ED41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436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GpuCollisionNarrowPhase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4F4E2D-7C13-48E6-8641-5DF8F501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3436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extracts SOFA triangles and builds host DeviceTriangle arrays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FC892-F5C8-4163-92B2-710201E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675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7B9A92-0A3A-4D27-A9D8-3636E98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72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H2D 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EF996A-B354-4818-AB8D-B7A713A0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724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40 bytes per triangle, every measured step today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75352-9A23-45A9-A0E0-1E609FBD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781550"/>
            <a:ext cx="1428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38BDF8"/>
                </a:solidFill>
              </a:defRPr>
            </a:pPr>
            <a:r>
              <a:rPr sz="390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6CE194-BF75-4F76-9547-9B820B7F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657850"/>
            <a:ext cx="1428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4B5563"/>
                </a:solidFill>
              </a:defRPr>
            </a:pPr>
            <a:r>
              <a:rPr sz="2550" b="1" i="0">
                <a:solidFill>
                  <a:srgbClr val="4B5563"/>
                </a:solidFill>
              </a:rPr>
              <a:t>H2D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D4123-6D81-442E-9A33-BED19265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32460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4B5563"/>
                </a:solidFill>
              </a:defRPr>
            </a:pPr>
            <a:r>
              <a:rPr sz="1800" b="1" i="0">
                <a:solidFill>
                  <a:srgbClr val="4B5563"/>
                </a:solidFill>
              </a:rPr>
              <a:t>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B4EBB-089C-493F-B5A5-AAF34ED9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896100"/>
            <a:ext cx="142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FBBF24"/>
                </a:solidFill>
              </a:defRPr>
            </a:pPr>
            <a:r>
              <a:rPr sz="1725" b="0" i="0">
                <a:solidFill>
                  <a:srgbClr val="FBBF24"/>
                </a:solidFill>
              </a:rPr>
              <a:t>large path:</a:t>
            </a:r>
          </a:p>
          <a:p xmlns:a="http://schemas.openxmlformats.org/drawingml/2006/main">
            <a:pPr>
              <a:defRPr sz="1725" b="0" i="0">
                <a:solidFill>
                  <a:srgbClr val="FBBF24"/>
                </a:solidFill>
              </a:defRPr>
            </a:pPr>
            <a:r>
              <a:rPr sz="1725" b="0" i="0">
                <a:solidFill>
                  <a:srgbClr val="FBBF24"/>
                </a:solidFill>
              </a:rPr>
              <a:t>3.18 MB / step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A2A049-5A04-48D8-9B65-A23863E4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7813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8F03D4-B4B7-49F7-898F-8A2DCFD9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861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Dense grid buckets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5AFBD-5EFB-4861-891E-9D78A2D7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861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insert tissue ids and blade ids per cell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4B505-8298-464D-97EF-052A8AE2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2100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15D874-3720-4D76-B5EF-73ED7E35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148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Candidate generation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C91944-DDC8-4F78-B49D-3BD14A5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149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per cell cross product: tissueCount * toolCount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940CA6-F900-4CDB-B5E3-DB4FCDFA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3880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DEB161-EFD1-4E31-95F3-2F8AA8E4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94360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Sort + unique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D9494E-03F2-4938-B4B9-4D0E86F7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34365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removes duplicate pairs from multi-cell triangles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FD63BA-42FA-4DDE-89E8-84C432D1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7067550"/>
            <a:ext cx="7515225" cy="12573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EE8175-FBCB-4537-BD9F-DCAD008E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372350"/>
            <a:ext cx="7105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Exact contacts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49B7DA-07B6-4B3C-9042-4D228F50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772400"/>
            <a:ext cx="7105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SAT triangle test; contact buffer stays GPU-side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3B1DAE-544E-433F-B236-3CD3EF95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6916758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55E8539-F343-49CF-B761-A2A1123A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E2BF9-E57A-4C59-B2FA-86F94B2E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2B744-93A7-4908-8D4F-73897D0D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FB632-4A5E-4BEF-937E-771E5942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Dense spatial grid: one grid, two per-cell lists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47F33-9C1F-47B8-BA7F-574E4924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4683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scene is divided once. Each cell stores tissue triangle ids and blade triangle ids separately, then generates candidate pairs from the cross-product inside that cell.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A0B5-AF47-4390-A53F-D530268A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1. Triangle AABB overlaps cells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56E65-C162-4E0C-8372-4FF44A47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4310"/>
            <a:ext cx="518999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3D457-C89B-49F4-9B36-385FAFC2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47680-3193-4252-97FA-C225159F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C8DC8-3A8C-48B5-8724-9441970C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6E292-94E9-4D21-BC36-DE66FF94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DE89B-0F31-4B40-BAE2-50DE310C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B0EEE-955D-49FF-905C-1521A7CC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8B109-783B-43CD-9BBC-398D82E8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240B7-822E-437C-B5BA-56137AC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05DC8-D204-4EB3-9E25-5D803DF6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271010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437C3-DB2C-453D-8C51-BD22203C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624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A4C0D-380C-4649-B51F-65A3E33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5CFD1-1137-4BFE-A754-0AA2815C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CD87C-40BF-4FD5-A605-3AA929A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DF8A1-1280-4D83-8E69-6D656452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47472-09D8-43B6-A6FB-83E55A99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6EF27-A069-4C54-921F-E9F9E50C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CFF41-EB0C-4249-8E3E-F0C78121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18B5C-8884-4243-BC4D-F25703B5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A9995B-8467-495F-8C68-83E7EED5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085398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B47BA5-EE49-48B5-8EFC-CDE708C7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18160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A06E0-2B39-442C-969F-73DCE882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0F9C22-BF25-4AF0-9B13-0DF2F50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CEB76-F073-4F07-92CE-94233842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58BC7-36C6-4C9E-92E9-0608E75A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8EB019-03AF-4A02-BBF3-0744548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F38A8F-BC4C-4FEC-8EB5-422D9D6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5BE05-862E-458A-8621-7BC5788A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894663-3578-433C-B86F-C5341C9A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7D195D-C821-4C8C-B128-092B8556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5899785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F5B825-027D-419F-9C05-32354D03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007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97C57E-06C6-4059-A0C0-7E90135F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062916-7498-45A0-BBDA-C3151588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C83AF8-5772-4A88-B524-53208D5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8858C8-1A79-4AF6-A4CD-A4A6969D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B1A326-DEE7-4E87-A4D6-24315576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132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B2969E-AE11-4D27-A34A-0995B5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8D5147-F659-4180-A09C-4B736ED3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668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9935FB-FCD4-4764-B7F4-4682749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69F5BA-9E73-417D-8DD1-0AB27AD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6714173"/>
            <a:ext cx="861060" cy="700088"/>
          </a:xfrm>
          <a:prstGeom xmlns:a="http://schemas.openxmlformats.org/drawingml/2006/main" prst="roundRect">
            <a:avLst>
              <a:gd name="adj" fmla="val 10884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30680BE-727A-435F-A8E0-F48B7986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800850"/>
            <a:ext cx="857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C31C6EB-1DAB-4420-9BBE-9669624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28610"/>
            <a:ext cx="1714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2DD4B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4C0A70-BD54-4489-8418-5E379188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0010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T = tissue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47F0B7-3E39-4696-8697-BD2301F6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7928610"/>
            <a:ext cx="17145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B39396-8833-4459-AB6A-BF4F479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001000"/>
            <a:ext cx="1371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B = blade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A7FB36-A028-4A6B-8B34-9C1C93FF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67100"/>
            <a:ext cx="5734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2. A cell owns two id arrays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FB6028D-CB05-48D2-91B2-D253246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845" y="4065270"/>
            <a:ext cx="573631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28A1F8-5A7E-4FCE-96B1-D4E66BAA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124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38BDF8"/>
                </a:solidFill>
              </a:defRPr>
            </a:pPr>
            <a:r>
              <a:rPr sz="1800" b="0" i="0">
                <a:solidFill>
                  <a:srgbClr val="38BDF8"/>
                </a:solidFill>
              </a:rPr>
              <a:t>cellId = x + y*nx + z*nx*ny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648C7B-E24B-4A47-BBF9-57381DA1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81550"/>
            <a:ext cx="5124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AF0"/>
          </a:solidFill>
          <a:ln xmlns:a="http://schemas.openxmlformats.org/drawingml/2006/main" w="0">
            <a:solidFill>
              <a:srgbClr val="E6EAF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C24719-6EAF-4A29-A9A9-AAC03639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911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2DD4BF"/>
                </a:solidFill>
              </a:defRPr>
            </a:pPr>
            <a:r>
              <a:rPr sz="2100" b="1" i="0">
                <a:solidFill>
                  <a:srgbClr val="2DD4BF"/>
                </a:solidFill>
              </a:rPr>
              <a:t>cellTissueIds[cellId][0..x-1]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30710C-C2A4-4B34-B51C-C2E2903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86400"/>
            <a:ext cx="5124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87171"/>
                </a:solidFill>
              </a:defRPr>
            </a:pPr>
            <a:r>
              <a:rPr sz="2100" b="1" i="0">
                <a:solidFill>
                  <a:srgbClr val="F87171"/>
                </a:solidFill>
              </a:rPr>
              <a:t>cellToolIds[cellId][0..y-1]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017403-E7F1-42C2-8A8A-88F61ED0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62650"/>
            <a:ext cx="51244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4B5563"/>
                </a:solidFill>
              </a:defRPr>
            </a:pPr>
            <a:r>
              <a:rPr sz="1875" b="0" i="0">
                <a:solidFill>
                  <a:srgbClr val="4B5563"/>
                </a:solidFill>
              </a:rPr>
              <a:t>Counts are filled with atomicAdd during triangle insertion.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48CF04-6095-4259-88DB-4C6FEF7B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600950"/>
            <a:ext cx="57340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BBF24"/>
                </a:solidFill>
              </a:defRPr>
            </a:pPr>
            <a:r>
              <a:rPr sz="2250" b="1" i="0">
                <a:solidFill>
                  <a:srgbClr val="FBBF24"/>
                </a:solidFill>
              </a:rPr>
              <a:t>This is not two scene grids. It is one scene grid with two primitive lists per cell.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65BE68C-4B89-49B8-8681-C0703815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33800"/>
            <a:ext cx="5181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3. Candidate pairs are local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AB9BB2-4E4F-417D-ACC3-D30B4BB5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4105" y="4322445"/>
            <a:ext cx="5189995" cy="371475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E55404-BD8F-4556-8D9E-BC83825F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61010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11827"/>
                </a:solidFill>
              </a:defRPr>
            </a:pPr>
            <a:r>
              <a:rPr sz="2400" b="1" i="0">
                <a:solidFill>
                  <a:srgbClr val="111827"/>
                </a:solidFill>
              </a:rPr>
              <a:t>pairsInCell = x *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E19304-63CD-4CF8-92F8-DA31DFB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8905" y="5183505"/>
            <a:ext cx="2204472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75B470-662B-4C14-A844-92FA9B5D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0" y="5353050"/>
            <a:ext cx="18669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T17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T18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T42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A2B1EC-5C3F-46FD-B8EF-5A65F62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4828" y="5183505"/>
            <a:ext cx="2204472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BEC7A9-A9EB-4B50-A2A3-6B22E07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0" y="5353050"/>
            <a:ext cx="18669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B3</a:t>
            </a:r>
          </a:p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B4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38A28F-DDB0-4D90-A77B-05E6E9D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438900"/>
            <a:ext cx="4572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BBF24"/>
                </a:solidFill>
              </a:defRPr>
            </a:pPr>
            <a:r>
              <a:rPr sz="2175" b="1" i="0">
                <a:solidFill>
                  <a:srgbClr val="FBBF24"/>
                </a:solidFill>
              </a:rPr>
              <a:t>3 tissue ids x 2 blade ids = 6 raw pairs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A6FEC5-417B-47B5-BAE2-817A64DA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699135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4B5563"/>
                </a:solidFill>
              </a:defRPr>
            </a:pPr>
            <a:r>
              <a:rPr sz="1800" b="0" i="0">
                <a:solidFill>
                  <a:srgbClr val="4B5563"/>
                </a:solidFill>
              </a:rPr>
              <a:t>Duplicates are removed before exact testing because large triangles may touch multiple cells.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CD9335-A358-4592-A38A-ED2F3D06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4884920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0268EF0-4160-4F5F-9173-73BF6909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0229A-79DC-40D8-8D46-EF1B6ADD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9EAEA-76BB-41FA-8C45-1B357A88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DD9C5-4360-46D8-841C-2E89FC62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CUDA kernels and thread allocation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07E9E-5755-48E6-82FF-BB981336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285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current GPU narrow phase is a fixed sequence of reusable kernels plus a Thrust dedup pass before exact contact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17FBA-7F60-48CD-8C5A-7D52A481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3302594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84AE27-98CF-46C0-98C2-0915186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067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4D97F-8222-43F6-B895-08DDC24B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2057400"/>
            <a:ext cx="2847064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7B424-129D-4035-8D6B-42412167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Thread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D907A-7C0C-4F9A-9635-B1431709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2057400"/>
            <a:ext cx="307482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8E5A6-B296-476F-8B5E-F0C6E4BE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526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240BE1-3538-4366-8E23-7711EAA0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1AF88F-0D50-4C0F-A248-B7D1F7A4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clear grid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344D9-BDD0-429C-8074-5FD40381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2590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035EF-ABA1-4CF6-B18D-A6BCE577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cell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48989-92BB-4FCD-87F4-7A3D746E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2590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1D6FB-B2C8-465E-A49D-1EA5B0B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zero cell counts and counters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9AF8B-A3B9-4FE6-B1D3-5F03D22F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08B75-3933-4D77-A13C-13DFEA3E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compute AABBs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3D96B-9866-46C0-81B6-779D0937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3162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403A5C-70C9-4C9F-801F-CF37C102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triangle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5F364-0D9A-438A-BAAB-8B7FB0B7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3162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F7192-5E06-41B7-890C-426880B8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inflated tissue/blade bounds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1838B-2FDE-460D-8ED2-E6C05B9D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4DEC9-2202-4D4F-8D49-EBE2545F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insert triangles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A32EC-1ADD-412F-82AF-1EC14AE8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3733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4F2CC5-CDDF-4C0F-91EE-9B911EC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29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triangle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5AFE4-0987-4FE1-A85E-92E9D5AC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3733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01C04F-84FD-4552-8320-65529901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29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cell id lists via atomicAdd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FABD9-B211-4BF6-AA83-3F1FC304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C91D8D-4350-4408-97FE-0993981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generate pairs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B8AC2A-94DD-4AF0-B1B5-B6E9CDBA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4305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575D4F-6A98-4504-8CDC-2CBBC4CA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00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block = 1 cell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33A67A-8405-4313-B504-A0EECC7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4305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4DE85-EACA-4341-8EFE-5E766EB8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00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encoded uint64 raw pairs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5861A-5495-4286-95C6-8F18F325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8B48AF-1C86-4FA9-BED0-FE18E4D2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thrust::sort + thrust::unique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C32D83-604F-4D2C-B8A7-0F4EE52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48768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9C113E-BE5D-4079-8EB2-1BD55247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9720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device-wide parallel primitives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D67B85-A2BC-47B2-A8B1-01FE260F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48768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520BA7-E842-4B5C-BAC7-EE3A85E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unique candidate pairs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1254EE-6EB1-4E93-BAB2-0401E518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330259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4149A7-888A-4A23-9941-9EF62C46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3067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exact contact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D4D193-86D8-4544-AE57-CF630B54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794" y="5448300"/>
            <a:ext cx="2847064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790943-D39D-43E0-BC59-99D7A3A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43550"/>
            <a:ext cx="2609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 thread = 1 unique pair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59303A-6BB5-4602-8898-34E13301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2157" y="5448300"/>
            <a:ext cx="307482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7F6A77-3629-4CE7-BB77-17F89BCB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543550"/>
            <a:ext cx="283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DeviceExactContact buffer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86C70A-1D3D-4861-A91F-552B14E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2057400"/>
            <a:ext cx="6987064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4A782B-95D2-4122-B3D0-D0369D18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66950"/>
            <a:ext cx="649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8BDF8"/>
                </a:solidFill>
              </a:defRPr>
            </a:pPr>
            <a:r>
              <a:rPr sz="2400" b="1" i="0">
                <a:solidFill>
                  <a:srgbClr val="38BDF8"/>
                </a:solidFill>
              </a:rPr>
              <a:t>Exact contact kernel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7E28502-5A52-4F28-82FD-B5E2F75D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743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decode ids; load DeviceTriangle A/B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0FC478-E8A4-424A-AF0F-C3E43620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4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run triangle SAT overlap test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3771A2-84A8-4BC0-887F-B5916824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505200"/>
            <a:ext cx="6496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if hit: atomicAdd(contactCount)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1B80CF-AA1B-4BF9-A6EB-8BDF4C9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4362450"/>
            <a:ext cx="6987064" cy="2095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62FCE6-D85E-4CB7-B5A2-0D764CF6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572000"/>
            <a:ext cx="64960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2DD4BF"/>
                </a:solidFill>
              </a:defRPr>
            </a:pPr>
            <a:r>
              <a:rPr sz="2400" b="1" i="0">
                <a:solidFill>
                  <a:srgbClr val="2DD4BF"/>
                </a:solidFill>
              </a:rPr>
              <a:t>Why dedup is active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47832C-EFA4-42D4-BCF3-AA3DE16D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067300"/>
            <a:ext cx="6496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A triangle can overlap many cells. Without sort/unique, exact testing repeats pairs.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0DB1E77-6936-4853-B027-2236A506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772150"/>
            <a:ext cx="6496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BBF24"/>
                </a:solidFill>
              </a:defRPr>
            </a:pPr>
            <a:r>
              <a:rPr sz="1800" b="1" i="0">
                <a:solidFill>
                  <a:srgbClr val="FBBF24"/>
                </a:solidFill>
              </a:rPr>
              <a:t>Current benchmark uses deduplicatePairs=true.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E9C5F4-2E9F-4511-A305-9D5D2692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036" y="6667500"/>
            <a:ext cx="6987064" cy="2739390"/>
          </a:xfrm>
          <a:prstGeom xmlns:a="http://schemas.openxmlformats.org/drawingml/2006/main" prst="roundRect">
            <a:avLst>
              <a:gd name="adj" fmla="val 7650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6BD11C-062E-4296-BDDA-E3F8BB60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486650"/>
            <a:ext cx="6457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A78BFA"/>
                </a:solidFill>
              </a:defRPr>
            </a:pPr>
            <a:r>
              <a:rPr sz="2250" b="1" i="0">
                <a:solidFill>
                  <a:srgbClr val="A78BFA"/>
                </a:solidFill>
              </a:rPr>
              <a:t>Main call path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C8E641-966F-490B-82D8-A0CF5262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7962900"/>
            <a:ext cx="645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GpuCollisionNarrowPhase::endNarrowPhase()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7A96B8-EC78-462E-BB8A-97893B99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8343900"/>
            <a:ext cx="6457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11827"/>
                </a:solidFill>
              </a:defRPr>
            </a:pPr>
            <a:r>
              <a:rPr sz="1650" b="0" i="0">
                <a:solidFill>
                  <a:srgbClr val="111827"/>
                </a:solidFill>
              </a:rPr>
              <a:t>-&gt; computeDenseGridTriangleContacts()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8BB89A-FDD8-4A5E-BCA4-667D3774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3946417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EA3C679-1C36-49F9-9E7F-0D07C53D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14F17-45CD-4BE7-94D6-6AB6B398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63058-25B0-483A-A412-790A4BED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96D68-007D-4247-97B0-B8E5AAA1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Memory layout and transfer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00077-8BC1-4194-8FFB-E4064A0C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630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Device memory is allocated once and reused. The biggest remaining cost is that the current path still repacks and uploads triangle geometry every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0795A-E337-494D-8E09-30594EF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Global VRAM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ADFF4-6F7B-4934-BA6F-AB8A2E1A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6560"/>
            <a:ext cx="366258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E5E54-67BD-4606-96B0-F66542D0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342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D66A6-BD22-4D4F-8F48-F3CC423C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2956560"/>
            <a:ext cx="44336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03E1A-A19C-4E25-A8AE-1383E0B0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Purpose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79747-4882-40E8-A74B-FBCDBDB9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9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8431C-41E1-49E8-A9B6-33DAE6FA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DeviceTriangle[]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05311-9BC4-4958-ACA2-CE26EA07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3489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2442E-B9D2-4AA2-B057-0F22CA19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81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tissue and blade triangle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A367F-4263-42A5-8318-654097FA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1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83C158-8C1E-4B64-AB58-DE1302EE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DeviceAabb[]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3275D2-9F30-4371-8A10-D312A984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4061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2F2DF-ED5E-4DD7-846B-7A8A9DCC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inflated per-triangle bounds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C6518-3EAE-4CDA-B9D6-67342A22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32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39E12-CE89-4702-8D36-DD9097EB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DeviceCellBucket[]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A83E95-C76D-4A41-B314-52714A96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4632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44D09-4E65-4697-BDF0-F0D3F614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724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per-cell tissue/tool counts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D1F95A-7E40-4FD5-9C52-7C22205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4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FAE60-A7FD-4653-85D7-8BA67FBD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cellTissueIds / cellToolIds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C418A-EA16-4EAC-8563-E0BC9805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5204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2DFC34-27F7-47F7-879E-CA58B44C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295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flat primitive id lists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C2D04B-DB18-4243-A6E5-5368B4B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59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43E71E-0D29-477D-BC07-B44C657A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674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uint64 candidatePairs[]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F59A10-E948-4361-8686-0208184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57759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A5BBF2-555A-4164-B789-D478626E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8674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encoded tissueId/bladeId pairs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5A1EC-DBB3-44BD-BC81-B4CA3119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7460"/>
            <a:ext cx="3662589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BBEBC5-FD99-4CD1-870B-B264BF72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38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DeviceExactContact[]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2C8923-AC52-47A9-906D-62810A18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789" y="6347460"/>
            <a:ext cx="443366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9FD5F5-C396-4DDC-AD6B-057161FF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6438900"/>
            <a:ext cx="4210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GPU contact output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EF0E46-5921-4936-828F-A4929805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62200"/>
            <a:ext cx="8210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Transfer boundary today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A5EA77-2FAE-4F35-81F7-DCE407D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4660"/>
            <a:ext cx="8210550" cy="2076450"/>
          </a:xfrm>
          <a:prstGeom xmlns:a="http://schemas.openxmlformats.org/drawingml/2006/main" prst="roundRect">
            <a:avLst>
              <a:gd name="adj" fmla="val 1009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A8824-CB31-42A7-9E32-07C8B400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1945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BBF24"/>
                </a:solidFill>
              </a:defRPr>
            </a:pPr>
            <a:r>
              <a:rPr sz="2700" b="1" i="0">
                <a:solidFill>
                  <a:srgbClr val="FBBF24"/>
                </a:solidFill>
              </a:rPr>
              <a:t>H2D every step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BD33B6-30CD-4FCC-91DE-9356F5D5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(tissueTris + bladeTris) * 40 bytes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7D6922-7A0B-494C-B866-405B229E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Large scene: 3.18 MB per step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61F701-646B-429F-9B82-129F6F99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99710"/>
            <a:ext cx="8210550" cy="1866900"/>
          </a:xfrm>
          <a:prstGeom xmlns:a="http://schemas.openxmlformats.org/drawingml/2006/main" prst="roundRect">
            <a:avLst>
              <a:gd name="adj" fmla="val 1122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646341-AF1E-4F6B-871A-709E0A84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24500"/>
            <a:ext cx="7639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2DD4BF"/>
                </a:solidFill>
              </a:defRPr>
            </a:pPr>
            <a:r>
              <a:rPr sz="2700" b="1" i="0">
                <a:solidFill>
                  <a:srgbClr val="2DD4BF"/>
                </a:solidFill>
              </a:rPr>
              <a:t>D2H minimized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9D1CE-CAB7-4FC3-9273-EEE441C1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076950"/>
            <a:ext cx="7639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11827"/>
                </a:solidFill>
              </a:defRPr>
            </a:pPr>
            <a:r>
              <a:rPr sz="1950" b="0" i="0">
                <a:solidFill>
                  <a:srgbClr val="111827"/>
                </a:solidFill>
              </a:rPr>
              <a:t>Contacts stay device-side; only counters are copied back.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F34353-41C5-4E20-8247-933FB1A8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496050"/>
            <a:ext cx="76390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Measured D2H: 16 bytes/step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92E101-D024-4ACC-BD2F-71707464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395210"/>
            <a:ext cx="821055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45B43C-EF54-422B-A463-BA68340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715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87171"/>
                </a:solidFill>
              </a:defRPr>
            </a:pPr>
            <a:r>
              <a:rPr sz="2550" b="1" i="0">
                <a:solidFill>
                  <a:srgbClr val="F87171"/>
                </a:solidFill>
              </a:rPr>
              <a:t>Implication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506A1-9562-4AF1-A09A-108ECE06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229600"/>
            <a:ext cx="76390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GPU compute is not the full story. Extraction, packing, H2D upload, syncs, and SOFA traversal still sit in wall time.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9A74AF-D415-422B-90D6-8199C4D3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3910291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D279E94-4475-4E8B-A6C4-4915A293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B0C75-7C59-4F76-A092-1291C591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7F6A1-AE28-4833-BCE3-21AABD65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69A15-B2E4-4AFB-89CD-C769EA68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Benchmark scaling: wall time vs GPU 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AD5B2-01EB-4650-9744-82FF4CD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6017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GPU kernels scale into the CPU range at the largest scene, but total GPU wall time remains dominated by transfer and orchestration overhead.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21880-CE9D-417B-A8F4-D41380AFC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9238488" cy="7052310"/>
          </a:xfrm>
          <a:prstGeom xmlns:a="http://schemas.openxmlformats.org/drawingml/2006/main" prst="roundRect">
            <a:avLst>
              <a:gd name="adj" fmla="val 2971"/>
            </a:avLst>
          </a:prstGeom>
          <a:solidFill xmlns:a="http://schemas.openxmlformats.org/drawingml/2006/main">
            <a:srgbClr val="F5F7F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70871-C7EF-4BDE-A4E0-18D01FC2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83180"/>
            <a:ext cx="148590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FB0C5-E9A5-4397-84FC-C6CAA679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CPU wall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D5C14-A435-4565-A4A8-38F8EAC8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83180"/>
            <a:ext cx="20002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A4BCD-9E36-45C4-BA96-64869FCE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67000"/>
            <a:ext cx="1657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B2A58-D133-4C38-BA5D-4401A640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83180"/>
            <a:ext cx="1504950" cy="426720"/>
          </a:xfrm>
          <a:prstGeom xmlns:a="http://schemas.openxmlformats.org/drawingml/2006/main" prst="roundRect">
            <a:avLst>
              <a:gd name="adj" fmla="val 49107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4E0E6C-2405-4020-880A-B512DAE7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67000"/>
            <a:ext cx="116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GPU wall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A2574-DDCD-413B-B11D-5FF5B03F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50A87-15BC-42EE-9944-6C16F3F4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medium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41F20-496F-4961-9188-A4422B6C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38k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13D24-9E2B-4925-BFC5-D9C47DF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19A7D-957F-4DAE-8A47-2142DC48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14700"/>
            <a:ext cx="266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89221-E97A-4726-A108-C8F2ADD6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76600"/>
            <a:ext cx="3657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F26E6-9451-4C95-B747-9793D8F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575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4.96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CD0B9-0EBB-4034-8CC6-02B3F563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004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DCB37-F717-410B-A498-7E612D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190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4B081A-3D18-44E5-8231-799B9950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57600"/>
            <a:ext cx="3810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FB74C2-4651-47AF-960C-4D51BDAC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3.38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7E6B7-C587-4D94-872C-983690FD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433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B4371-9B91-4EC0-8002-4169D802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05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24E8BA-1453-476E-AC04-2EFDC5AC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62400"/>
            <a:ext cx="3505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D4F83-90F4-4217-9D23-506C5038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433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8.22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44C048-900C-456F-B15B-857C2E76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A4A72-A3B9-4FB3-ACCF-27C01833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244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large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12D3FC-3A1B-4AED-A13A-48AAA5B4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80k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9F7D15-FAB3-4FAE-B653-249C3CC8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5720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310B5-0678-4092-830A-BC82766E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0100"/>
            <a:ext cx="457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650ED0-029A-400A-A199-82EC7795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48200"/>
            <a:ext cx="3505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87C00-09CC-44CD-91B9-E16D5D2D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8.05 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A7F76B-1313-4217-9DD6-CA496128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149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F873AA-BC8F-4C79-ABAE-B75A8809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53000"/>
            <a:ext cx="228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6C736-062F-4CE1-9B65-5D5021CE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53000"/>
            <a:ext cx="3733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DFF90E-D6B2-4932-AFCB-AA6B8022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149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4.00 ms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11403B-040E-4358-B3AC-583BCE2E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578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23395-D700-4611-8D20-0A199313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95900"/>
            <a:ext cx="6477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B7C85E-87E3-4D42-A017-55DA19E7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34000"/>
            <a:ext cx="3276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F9F193-25F7-4FA4-A546-79CF11E3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578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11.76 ms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0D4F7BE-7F5C-4A4D-90F3-2E6905BA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3405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248BA1-2F0C-46D6-A127-8280F8DB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0388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xlarge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E97C15-8B37-44B0-8D47-5E634F9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4008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146k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FDC68A7-B964-4DB5-908A-1F9627AC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8864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6E220C-70D7-4F40-8FD8-8B067B1F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43600"/>
            <a:ext cx="5715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AEFA14-B39F-4313-94BB-92F83817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43600"/>
            <a:ext cx="3352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253FE5-73E7-4971-BE84-EC252D04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864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10.59 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FDEBFA-C52D-48DC-B7E0-70E242C0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293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F91ED2-0085-46E7-B15F-F21D8B6B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286500"/>
            <a:ext cx="609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2354401-11C3-4A95-A0B1-31C935AB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48400"/>
            <a:ext cx="3352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F4E70EA-EF21-42A5-9436-E768B22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2293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10.67 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11228B-B461-481F-B361-356980FB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57225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57A190-8B4E-4C95-B4FB-AF75466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629400"/>
            <a:ext cx="2362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2928F9-CE7B-459D-859D-85DA8881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629400"/>
            <a:ext cx="16002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FDA1CC-68FC-49A1-9C09-E9AFBEAB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7225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42.43 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69D9C68-E839-472C-B276-B7E14604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48500"/>
            <a:ext cx="8743188" cy="12192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DC40CF-EA50-4BF9-B872-6D42DC5E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35330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xxlarge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BF805A5-6050-4DB4-BE23-F7ADAD5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715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B5563"/>
                </a:solidFill>
              </a:defRPr>
            </a:pPr>
            <a:r>
              <a:rPr sz="1650" b="0" i="0">
                <a:solidFill>
                  <a:srgbClr val="4B5563"/>
                </a:solidFill>
              </a:rPr>
              <a:t>234k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7313C68-2BFB-463B-98C9-E0155C5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2009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CPU wall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634314-8F39-4DE1-9742-B03CCBB9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239000"/>
            <a:ext cx="13716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538919-FD95-4CFF-B884-39484C3A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7239000"/>
            <a:ext cx="25908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F42583-0BA0-44E2-AB04-CEEF923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009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24.75 ms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CE9E05-9BB7-4A2A-A76E-9AA162F1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5438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C6A4CA-E023-4A57-A774-1AD0BF61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620000"/>
            <a:ext cx="12954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BDF8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2F67E3E-6071-4E97-BAD2-C24002CC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620000"/>
            <a:ext cx="2667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3827598-1C70-475D-871C-ECD03081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5438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23.90 ms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DBEFE8-82C5-405F-A359-FF13FF3D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7886700"/>
            <a:ext cx="1466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4B5563"/>
                </a:solidFill>
              </a:defRPr>
            </a:pPr>
            <a:r>
              <a:rPr sz="1500" b="1" i="0">
                <a:solidFill>
                  <a:srgbClr val="4B5563"/>
                </a:solidFill>
              </a:rPr>
              <a:t>GPU wall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16AD2C-EDBD-4166-904E-BAD6FB5A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7924800"/>
            <a:ext cx="38100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88CB2A-D7C0-4307-B4DF-39484696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924800"/>
            <a:ext cx="1143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579B26-E491-4A67-8F5E-B8433838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886700"/>
            <a:ext cx="1028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</a:defRPr>
            </a:pPr>
            <a:r>
              <a:rPr sz="1425" b="1" i="0">
                <a:solidFill>
                  <a:srgbClr val="111827"/>
                </a:solidFill>
              </a:rPr>
              <a:t>71.25 ms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BA10E1B-DD4E-4C63-A797-9CE02602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62950"/>
            <a:ext cx="874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6B7280"/>
                </a:solidFill>
              </a:defRPr>
            </a:pPr>
            <a:r>
              <a:rPr sz="1650" b="0" i="0">
                <a:solidFill>
                  <a:srgbClr val="6B7280"/>
                </a:solidFill>
              </a:rPr>
              <a:t>Bar length is normalized to the slowest measured GPU wall time: 71.25 ms.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2D3A3C-1806-4AA8-9EDC-5DDC6F2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354580"/>
            <a:ext cx="145598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DCE8E6"/>
          </a:solidFill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9228968-B6AC-4C7C-ACA7-B6D82F09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43840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Case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BB3D7E-7AD9-4269-BFA2-4731A4A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2354580"/>
            <a:ext cx="145598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869E49-08F8-4A79-9964-FD53167F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43840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Tris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8A6E39B-3A8A-4EB1-A86C-1400684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2354580"/>
            <a:ext cx="1779533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FAA1EF-84FB-4A19-8767-73B1B29C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43840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CPU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DDB50AC-2263-43D4-8778-2FA74265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2354580"/>
            <a:ext cx="2224416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EFD99E8-3778-417A-BF2E-9CF0BBE9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4384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4B5563"/>
                </a:solidFill>
              </a:defRPr>
            </a:pPr>
            <a:r>
              <a:rPr sz="1575" b="1" i="0">
                <a:solidFill>
                  <a:srgbClr val="4B5563"/>
                </a:solidFill>
              </a:rPr>
              <a:t>GPU compute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02B47C-8F94-4EA2-9375-7143B111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887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6005C3-7FAF-46C1-93CE-6EC8404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medium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AC6D943-33CC-47E5-B1B7-79BB65F3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2887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0C65AAB-CA3B-400D-B601-B9BB966D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29908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38k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977E0A4-9531-4CD2-ADCE-B115400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28879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160546-1EAD-4CF2-A398-A6AB38B3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9908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4.96 ms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588A217-BA57-4114-A144-DE60614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28879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62E65C-2F71-47A1-BAE6-A45B3C1C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2990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3.38 ms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BA1848E-EFF2-4720-9ED3-7D11372F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3459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288E76-95D5-4ED2-B805-7C999A62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5623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large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93F198-FAC6-4EC6-B5B9-790E2510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3459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F5668E-3867-4413-AE09-486379D6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35623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80k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5B9B924-A417-475C-BA7A-14C5921E7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34594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2B3918-6310-4C54-B0EB-053E47DE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5623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8.05 ms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4A7259-5988-4451-A2A4-272EDD23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34594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B0436F-E7FE-493D-A28F-F2A52E6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35623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4.00 ms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78609B1-4F28-4CDC-A819-AAB9786A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030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96BE289-B5FA-4205-9755-22ACA392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338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xlarge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193AA44-4873-4B51-B2D4-61265752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40309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03CA1D2-023D-4652-B2B4-F1EAB82C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1338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146k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0D99574-344B-4446-8389-1B6B78C7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40309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450A45A-E847-4986-92A5-0FF0513C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1338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10.59 ms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4C226DA-AD7A-4905-84BC-16D993F5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40309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8FF8EAE-6072-41DC-A3A0-3C2E2070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4133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10.67 ms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2EBA48-8825-47B6-BA3E-A2C73EF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4602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BA499DD-C784-40DE-90EC-DA79A0B1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05350"/>
            <a:ext cx="1219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xxlarge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8223C54-5E54-4FA7-A6A2-7EADA378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5569" y="4602480"/>
            <a:ext cx="1455981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B4A2F3F-7369-4115-B7F1-457B9E76B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4705350"/>
            <a:ext cx="121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234k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21EA37F-2F0A-4AFB-9749-19ADB7AE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5851" y="4602480"/>
            <a:ext cx="1779533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5BEE012-90DB-4133-837C-EDFC7408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705350"/>
            <a:ext cx="1543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24.75 ms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7167D95-50E7-454D-8AB4-101950FF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9684" y="4602480"/>
            <a:ext cx="2224416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6BCEA9B-36F7-49DE-BBF0-14118F7B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47053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23.90 ms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61EE699-4B55-4BA8-8B04-C1B9F15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5269230"/>
            <a:ext cx="7258812" cy="4137660"/>
          </a:xfrm>
          <a:prstGeom xmlns:a="http://schemas.openxmlformats.org/drawingml/2006/main" prst="roundRect">
            <a:avLst>
              <a:gd name="adj" fmla="val 5064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B4315C4-7DC5-40BB-929C-C09DDBF4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19800"/>
            <a:ext cx="67246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 i="0">
                <a:solidFill>
                  <a:srgbClr val="4B5563"/>
                </a:solidFill>
              </a:defRPr>
            </a:pPr>
            <a:r>
              <a:rPr sz="2325" b="0" i="0">
                <a:solidFill>
                  <a:srgbClr val="4B5563"/>
                </a:solidFill>
              </a:rPr>
              <a:t>Largest scene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A739F12-19D4-49FC-9901-480BA45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15100"/>
            <a:ext cx="67246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2DD4BF"/>
                </a:solidFill>
              </a:defRPr>
            </a:pPr>
            <a:r>
              <a:rPr sz="4350" b="1" i="0">
                <a:solidFill>
                  <a:srgbClr val="2DD4BF"/>
                </a:solidFill>
              </a:rPr>
              <a:t>234k tris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2C2F65-4178-47B9-B95F-4D2874BE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3342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BBF24"/>
                </a:solidFill>
              </a:defRPr>
            </a:pPr>
            <a:r>
              <a:rPr sz="2250" b="1" i="0">
                <a:solidFill>
                  <a:srgbClr val="FBBF24"/>
                </a:solidFill>
              </a:rPr>
              <a:t>CPU wall: 24.75 ms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1FE98D-5877-4543-9C1F-5B122384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78295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38BDF8"/>
                </a:solidFill>
              </a:defRPr>
            </a:pPr>
            <a:r>
              <a:rPr sz="2250" b="1" i="0">
                <a:solidFill>
                  <a:srgbClr val="38BDF8"/>
                </a:solidFill>
              </a:rPr>
              <a:t>GPU compute: 23.90 ms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496A8F-89A6-4000-93C5-B03605E4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8324850"/>
            <a:ext cx="672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87171"/>
                </a:solidFill>
              </a:defRPr>
            </a:pPr>
            <a:r>
              <a:rPr sz="2250" b="1" i="0">
                <a:solidFill>
                  <a:srgbClr val="F87171"/>
                </a:solidFill>
              </a:rPr>
              <a:t>GPU wall: 71.25 ms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AA80460-72E8-4F09-8ED1-E44D05A0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6037002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56F8252-7068-48E4-8397-06BA69C1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73965-98A4-4AB0-ACDB-C4F71532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E51C9-8320-47F9-ADD4-5ACF159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983A9-11B6-477E-9368-2CA3888B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CPU still wins in full wall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13F68-D182-4B71-9669-78141F92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323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The implementation is doing the right GPU-side work. The benchmark exposes what remains outside the GPU-resident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3E70C-E18D-4AC3-BF38-60C7F76A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779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GPU wall minus compute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A7786B-8BF2-4632-B338-7944981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8430"/>
            <a:ext cx="7800023" cy="3429000"/>
          </a:xfrm>
          <a:prstGeom xmlns:a="http://schemas.openxmlformats.org/drawingml/2006/main" prst="roundRect">
            <a:avLst>
              <a:gd name="adj" fmla="val 6111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0292C-CA09-4AF6-AAE2-4F0491F3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medium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7ADFC-D11A-4C25-811F-A53E4F80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457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7C9292-7714-4EDF-97E2-7D49110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24200"/>
            <a:ext cx="38862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8CB55-B050-4B35-874B-A472CEC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4.84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7FEA6-D650-4A58-9818-3BC77AFE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large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75623-A501-4C30-B78A-680D5C3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723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C0066-B918-4262-ABAB-DDC2F005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3657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39EBE-9BB8-437E-9C84-673414A0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7.76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2E659-1F39-4268-A9E2-C2712287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xlarge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3EFEAE-16F4-48E3-BD27-4F345C4A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43400"/>
            <a:ext cx="2895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168CF-2299-4169-A3C6-2F0EADC2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343400"/>
            <a:ext cx="14478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5EB94-FCB9-4B9E-B439-35C64398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243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31.76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BC181-8451-4D1D-A4A2-F145CA52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530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xxlarge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52BCF-4171-4DE1-9039-023E6FEB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53000"/>
            <a:ext cx="4191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7171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30D7E-DBF1-4B93-B5C1-636F12BD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91100"/>
            <a:ext cx="114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AF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E3D4A-0543-456C-89DD-20604346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5300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4B5563"/>
                </a:solidFill>
              </a:defRPr>
            </a:pPr>
            <a:r>
              <a:rPr sz="1725" b="0" i="0">
                <a:solidFill>
                  <a:srgbClr val="4B5563"/>
                </a:solidFill>
              </a:rPr>
              <a:t>47.35 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F64A5-3B6C-491F-9C23-7D3C7EA4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7791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This gap includes extraction, packing, H2D transfer, synchronization, SOFA traversal, and batch overhead.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6879E4-D95D-4D1C-A318-D7982147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2057400"/>
            <a:ext cx="8621078" cy="2152650"/>
          </a:xfrm>
          <a:prstGeom xmlns:a="http://schemas.openxmlformats.org/drawingml/2006/main" prst="roundRect">
            <a:avLst>
              <a:gd name="adj" fmla="val 9735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8EB00-8D80-49F1-892D-4EF115D9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86000"/>
            <a:ext cx="805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D4BF"/>
                </a:solidFill>
              </a:defRPr>
            </a:pPr>
            <a:r>
              <a:rPr sz="2550" b="1" i="0">
                <a:solidFill>
                  <a:srgbClr val="2DD4BF"/>
                </a:solidFill>
              </a:rPr>
              <a:t>What is already good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E3E30F-AC6A-43ED-8A0E-F27766C8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00350"/>
            <a:ext cx="80581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11827"/>
                </a:solidFill>
              </a:defRPr>
            </a:pPr>
            <a:r>
              <a:rPr sz="1950" b="0" i="0">
                <a:solidFill>
                  <a:srgbClr val="111827"/>
                </a:solidFill>
              </a:rPr>
              <a:t>Object broad phase removed. Grid filtering, dedup, exact contacts, and contact residency are active.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64AA25-1F83-4734-9EE0-BC44AA29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54330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No overflows; 2.12M unique pairs at xxlarge.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31E335-8550-484B-AADD-E54F977E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4419600"/>
            <a:ext cx="8621078" cy="27241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F67A6-ED23-4557-A6A5-37269C94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48200"/>
            <a:ext cx="805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BBF24"/>
                </a:solidFill>
              </a:defRPr>
            </a:pPr>
            <a:r>
              <a:rPr sz="2550" b="1" i="0">
                <a:solidFill>
                  <a:srgbClr val="FBBF24"/>
                </a:solidFill>
              </a:rPr>
              <a:t>What blocks speedup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D3029A-35B1-424D-8DB7-3B6BECF5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625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1. Per-step triangle upload scales with geometry.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93BF87-254F-4D6B-AD1C-EAAA0F8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5816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2. Dense grid launches over many empty cells.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C4AE7A-789A-4DF0-A30F-69B9A25D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0007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3. Sort/unique grows with duplicate candidates.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D4C30-3954-404A-9D69-6B6C43EB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6419850"/>
            <a:ext cx="805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4. GTX 1650 Ti launch/sync overhead is visible.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A962D1-9E49-440C-B88A-78A3B4A5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023" y="7353300"/>
            <a:ext cx="8621078" cy="1790700"/>
          </a:xfrm>
          <a:prstGeom xmlns:a="http://schemas.openxmlformats.org/drawingml/2006/main" prst="roundRect">
            <a:avLst>
              <a:gd name="adj" fmla="val 11702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6945B9-C5CF-4835-9AF3-454B117A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715250"/>
            <a:ext cx="805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38BDF8"/>
                </a:solidFill>
              </a:defRPr>
            </a:pPr>
            <a:r>
              <a:rPr sz="2400" b="1" i="0">
                <a:solidFill>
                  <a:srgbClr val="38BDF8"/>
                </a:solidFill>
              </a:rPr>
              <a:t>Next implementation step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E638F-D6BA-4F75-BC19-761D5EA6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8210550"/>
            <a:ext cx="80581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11827"/>
                </a:solidFill>
              </a:defRPr>
            </a:pPr>
            <a:r>
              <a:rPr sz="1875" b="0" i="0">
                <a:solidFill>
                  <a:srgbClr val="111827"/>
                </a:solidFill>
              </a:rPr>
              <a:t>Keep geometry resident, build active-cell lists, use CUB compaction, then connect GPU response so contacts never return to CPU.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4161CC-39CD-4F95-9807-42CDC0B2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88322801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B4F4C2A-6708-4CD5-B381-F0CD9894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500D3-357D-4680-B55D-C2D6F145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AC874-D47F-426E-87D2-DA85627E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DB827-B479-4E4D-B35D-AC746AF2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Why this is already a real SOFA plugin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925C8-37E4-41BE-80E2-EA32D65C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344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This is not just a standalone CUDA demo. It is integrated into SOFA's collision pipeline with configurable components, CUDA backend execution, fallback controls, and benchmark instrumentation.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062C7-9AA9-4AE0-837E-874AC6F1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4580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2D093-56ED-4D20-825A-58705C59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SOFA components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05D3A-980D-4125-8125-54CC776B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GpuCollisionBroadPhase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451D1-C5C6-43BF-9587-D3018405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GpuCollisionNarrowPhase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6AC46-D216-49DB-B710-F29E19AA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52950"/>
            <a:ext cx="4895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827"/>
                </a:solidFill>
              </a:defRPr>
            </a:pPr>
            <a:r>
              <a:rPr sz="1725" b="0" i="0">
                <a:solidFill>
                  <a:srgbClr val="111827"/>
                </a:solidFill>
              </a:rPr>
              <a:t>GpuPipelineBenchmarkController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D5585-FF8F-40FF-AE4C-7B25A8B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354580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CFF5E-6213-47F3-ACF8-E4240A76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Pipeline integration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715AA-81B4-404D-BEDA-10E5B669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plugin plugs into SOFA CollisionPipeline and replaces the broad/narrow phase path for the tissue/blade benchmark scenes.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B213E-6475-4940-B6F6-54DC9E6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354580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D15D18-9A00-4CCA-B6C7-708B650C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3528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CUDA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10CB7-DF08-4888-88C5-0374B3C6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84810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Dense grid kernels, device candidate buffers, Thrust sort/unique, and exact triangle contact generation are implemented in the backend.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DE309-87E9-4671-B0F0-23959942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5035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30AD1-B1D6-4701-AFF2-AA1A94D3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9913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Configurable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2ED936-AA87-40E9-BDE2-3BF3181E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4866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Grid bounds, resolution, capacities, deduplication, host-copy behavior, fallback, and logging are exposed as plugin settings.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FE99D-B8AF-44BA-B652-A76DD741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995035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FFE2E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99BFE0-A5C9-4B85-8EE2-35F00B16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9913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Benchmark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FA212F-6E52-4B28-ABD8-1B5DC5C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4866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CPU reference scenes, GPU dense-grid scenes, transfer metrics, compute-only timing, scaling runs, and report outputs are already built.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30D626-67C6-441F-AB5A-3A43726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5995035"/>
            <a:ext cx="5461000" cy="3411855"/>
          </a:xfrm>
          <a:prstGeom xmlns:a="http://schemas.openxmlformats.org/drawingml/2006/main" prst="roundRect">
            <a:avLst>
              <a:gd name="adj" fmla="val 6142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AA1C0-CD9E-4C17-8648-7525440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3895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2DD4BF"/>
                </a:solidFill>
              </a:defRPr>
            </a:pPr>
            <a:r>
              <a:rPr sz="2550" b="1" i="0">
                <a:solidFill>
                  <a:srgbClr val="2DD4BF"/>
                </a:solidFill>
              </a:rPr>
              <a:t>Strong progress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35A06-D693-4354-A6F2-96949C4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3342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The important architecture shift is done: primitive candidate generation and exact contact work are now GPU-side, with CPU transfers measured instead of hidden.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E2BE88-E269-4067-8B70-9CBB0818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617261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A51FE23-0837-4329-8972-DA858F68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24C5C-ABC2-4BC2-B867-FB0B8C21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BF"/>
          </a:solidFill>
          <a:ln xmlns:a="http://schemas.openxmlformats.org/drawingml/2006/main" w="0">
            <a:solidFill>
              <a:srgbClr val="2DD4B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F4687-81B7-4E60-951F-3B3CC008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6250"/>
            <a:ext cx="1579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DD4BF"/>
                </a:solidFill>
              </a:defRPr>
            </a:pPr>
            <a:r>
              <a:rPr sz="1650" b="1" i="0">
                <a:solidFill>
                  <a:srgbClr val="2DD4BF"/>
                </a:solidFill>
              </a:rPr>
              <a:t>GPU SURGICAL COLLISION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07363-2F5D-44B2-8E9E-B5DB8C8B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82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111827"/>
                </a:solidFill>
              </a:defRPr>
            </a:pPr>
            <a:r>
              <a:rPr sz="3900" b="1" i="0">
                <a:solidFill>
                  <a:srgbClr val="111827"/>
                </a:solidFill>
              </a:rPr>
              <a:t>Next step: GPU collision response integration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59893-8A0A-4000-96D5-1AB647D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145923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4B5563"/>
                </a:solidFill>
              </a:defRPr>
            </a:pPr>
            <a:r>
              <a:rPr sz="1950" b="0" i="0">
                <a:solidFill>
                  <a:srgbClr val="4B5563"/>
                </a:solidFill>
              </a:rPr>
              <a:t>To make the pipeline fully integrated, the next milestone is to consume the GPU contact buffer directly in collision response instead of stopping at detection-only output.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BD8D6-B28B-43D3-B739-A51E4934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EA58F-F489-40CD-AE70-55F00064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GPU contacts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E7BE5-0E6F-41DE-9E70-E2FF3422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DeviceExactContact buffer from narrow phase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0C034-CFF5-4546-AB8F-B65FDF8B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575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5DD24-F2EC-4F27-9AE3-4EBA8B84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CA9AA-C6C1-49F8-BCE9-8AF6D520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Response metadata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FB17C-E4F4-42A6-AE2D-EE5BD1C8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normal, gap, feature ids, barycentric data, material 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2C42A-2C60-4A27-B37E-3B153CC5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F340F-A752-4E4F-BF26-AD753BF4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48571-4A79-4699-8227-DC9FA6A2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Contact forces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5FCBB-4D1A-4826-A894-3D0C9F2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penalty/compliant response first; constraints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BAA7F-92DC-4238-9655-6BD6A698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857500"/>
            <a:ext cx="60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38BDF8"/>
                </a:solidFill>
              </a:defRPr>
            </a:pPr>
            <a:r>
              <a:rPr sz="2850" b="1" i="0">
                <a:solidFill>
                  <a:srgbClr val="38BDF8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A577E-78CA-4812-A105-7967D614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9850" y="2476500"/>
            <a:ext cx="352425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EDE7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0337AD-7CE6-481B-8ACA-20EE8503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2743200"/>
            <a:ext cx="3105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11827"/>
                </a:solidFill>
              </a:defRPr>
            </a:pPr>
            <a:r>
              <a:rPr sz="2100" b="1" i="0">
                <a:solidFill>
                  <a:srgbClr val="111827"/>
                </a:solidFill>
              </a:rPr>
              <a:t>Tissue state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39B6C-6C21-439D-98D5-FDC4F40C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124200"/>
            <a:ext cx="3105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4B5563"/>
                </a:solidFill>
              </a:defRPr>
            </a:pPr>
            <a:r>
              <a:rPr sz="1575" b="0" i="0">
                <a:solidFill>
                  <a:srgbClr val="4B5563"/>
                </a:solidFill>
              </a:rPr>
              <a:t>apply forces/constraints without contact D2H round-trip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A3D9A-75AA-467C-AF37-C1AD1DA6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9580"/>
            <a:ext cx="5461000" cy="373761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08C38-71C2-4CB4-AAB2-D2638838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MVP response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7A58FC-D045-492E-83D1-A2B82120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Start with compliant or penalty response on GPU. It is the fastest way to validate tool reaction force and penetration control.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F35C3-CA35-4D8F-B150-24D8B9B9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259580"/>
            <a:ext cx="5461000" cy="373761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C006B-1B71-4A85-817B-F664C594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4102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Full integration target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B051A5-3E95-4BC7-91A1-A7235F77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24550"/>
            <a:ext cx="48958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Contacts, response forces, solver vectors, and tissue state should remain resident in VRAM during the steady-state simulation step.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32775B-A7B4-4D8A-AF54-441AF4FE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4259580"/>
            <a:ext cx="5461000" cy="373761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3F6FA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A9A771-6F1C-4BCC-B929-C4DE0C0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257800"/>
            <a:ext cx="4895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Exit criteria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7BA26-BC29-457E-BF07-9EC5BA0B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772150"/>
            <a:ext cx="48958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4B5563"/>
                </a:solidFill>
              </a:defRPr>
            </a:pPr>
            <a:r>
              <a:rPr sz="2025" b="0" i="0">
                <a:solidFill>
                  <a:srgbClr val="4B5563"/>
                </a:solidFill>
              </a:rPr>
              <a:t>No per-step contact-copy to CPU, stable contact forces, bounded penetration, and benchmark logs showing response time as a measured GPU stage.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4A703D-6761-471F-89AF-8926A66D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82940"/>
            <a:ext cx="16840200" cy="1123950"/>
          </a:xfrm>
          <a:prstGeom xmlns:a="http://schemas.openxmlformats.org/drawingml/2006/main" prst="roundRect">
            <a:avLst>
              <a:gd name="adj" fmla="val 18644"/>
            </a:avLst>
          </a:prstGeom>
          <a:solidFill xmlns:a="http://schemas.openxmlformats.org/drawingml/2006/main">
            <a:srgbClr val="DDF7F0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301AC7-B91F-4E5E-B560-F67F91A6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629650"/>
            <a:ext cx="2000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Final goal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7F6282-1720-444D-8C7D-3FFA2237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8496300"/>
            <a:ext cx="139636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4B5563"/>
                </a:solidFill>
              </a:defRPr>
            </a:pPr>
            <a:r>
              <a:rPr sz="2250" b="0" i="0">
                <a:solidFill>
                  <a:srgbClr val="4B5563"/>
                </a:solidFill>
              </a:rPr>
              <a:t>Detection and response become one GPU-resident surgical collision pipeline: tissue/tool state -&gt; contacts -&gt; response -&gt; solver update.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1AD62-C94C-4471-852B-027C24A1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20250"/>
            <a:ext cx="16840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B7280"/>
                </a:solidFill>
              </a:defRPr>
            </a:pPr>
            <a:r>
              <a:rPr sz="1275" b="0" i="0">
                <a:solidFill>
                  <a:srgbClr val="6B7280"/>
                </a:solidFill>
              </a:rPr>
              <a:t>Source: current SofaGpuCollision implementation and benchmark reports, generated 2026-05-08.</a:t>
            </a:r>
          </a:p>
        </p:txBody>
      </p:sp>
    </p:spTree>
    <p:extLst>
      <p:ext uri="{BB962C8B-B14F-4D97-AF65-F5344CB8AC3E}">
        <p14:creationId xmlns:p14="http://schemas.microsoft.com/office/powerpoint/2010/main" val="142158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2026-05-08T02:40:32.9110000Z</dcterms:created>
  <dcterms:modified xsi:type="dcterms:W3CDTF">2026-05-08T02:40:32.9110000Z</dcterms:modified>
</coreProperties>
</file>